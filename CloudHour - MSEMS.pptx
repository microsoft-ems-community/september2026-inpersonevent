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1" r:id="rId4"/>
    <p:sldId id="262" r:id="rId5"/>
    <p:sldId id="282" r:id="rId6"/>
    <p:sldId id="283" r:id="rId7"/>
    <p:sldId id="279" r:id="rId8"/>
    <p:sldId id="278" r:id="rId9"/>
    <p:sldId id="284" r:id="rId10"/>
    <p:sldId id="280" r:id="rId11"/>
    <p:sldId id="281" r:id="rId12"/>
    <p:sldId id="285" r:id="rId13"/>
    <p:sldId id="276" r:id="rId14"/>
    <p:sldId id="27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058C8C-CA0C-EE62-0F5A-6959F9D19FED}" v="227" dt="2026-07-31T13:28:22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06" autoAdjust="0"/>
    <p:restoredTop sz="94293" autoAdjust="0"/>
  </p:normalViewPr>
  <p:slideViewPr>
    <p:cSldViewPr snapToGrid="0" snapToObjects="1">
      <p:cViewPr varScale="1">
        <p:scale>
          <a:sx n="127" d="100"/>
          <a:sy n="127" d="100"/>
        </p:scale>
        <p:origin x="824" y="17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61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CloudHour is the Microsoft EMS Community monthly round-table. Today 1 July 2026. Host Jonas Bogvad, co-host Florian Salzmann.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expectations. A conversation, not a webinar. Brief a topic, then open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Microsoft EMS Community server tag in Discord. Join: https://aka.ms/M365EMSDiscord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Six topics, balanced across Intune, Entra, Defender and Purview, and across Windows, Android and iOS. Mandatory MFA (July 1) is on the radar board next.</a:t>
            </a:r>
            <a:endParaRPr lang="nl-NL" dirty="0"/>
          </a:p>
          <a:p>
            <a:endParaRPr lang="nl-NL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305A6-44FA-E70C-3BC7-9155B7833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6D76B6-AC38-D1CD-BCD5-33C0FB8FA2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292F2-BF08-1EC9-5360-59AB86EEC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Six topics, balanced across Intune, Entra, Defender and Purview, and across Windows, Android and iOS. Mandatory MFA (July 1) is on the radar board next.</a:t>
            </a:r>
            <a:endParaRPr lang="nl-NL" dirty="0"/>
          </a:p>
          <a:p>
            <a:endParaRPr lang="nl-NL" dirty="0"/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B8201-DACE-9ECA-F006-5235DDAB9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93288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8FA69-F871-B0B8-3206-5CCB8592E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9041C-51CA-E81B-24B9-6BC1E54C4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9FEA7-DCFE-D373-353E-565961A14F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Six topics, balanced across Intune, Entra, Defender and Purview, and across Windows, Android and iOS. Mandatory MFA (July 1) is on the radar board next.</a:t>
            </a:r>
            <a:endParaRPr lang="nl-NL" dirty="0"/>
          </a:p>
          <a:p>
            <a:endParaRPr lang="nl-NL" dirty="0"/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A3D0B-D863-B89A-6823-2AEA94C62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71236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lvl="0" fontAlgn="base"/>
            <a:endParaRPr lang="nl-N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1005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089CC-A445-2F2C-925A-C0BC11CA6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1E1C331-B5F0-90F8-5E01-2EE00D64B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65927A6-5911-C5A9-6A58-65E634484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</a:t>
            </a:r>
            <a:r>
              <a:rPr lang="nl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Cloud Sync, Cloud-</a:t>
            </a:r>
            <a:r>
              <a:rPr lang="nl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-AD </a:t>
            </a:r>
            <a:r>
              <a:rPr lang="nl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Provisioning</a:t>
            </a:r>
            <a:endParaRPr lang="nl-NL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br>
              <a:rPr lang="nl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l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Feature: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Cloud Sync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provision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users, security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memberships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on-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premises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 DS.</a:t>
            </a:r>
          </a:p>
          <a:p>
            <a:pPr lvl="0" fontAlgn="base"/>
            <a:r>
              <a:rPr lang="nl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Maturity</a:t>
            </a:r>
            <a:r>
              <a:rPr lang="nl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Matters: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provisioning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generally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available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User-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provisioning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user-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provisioning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preview.</a:t>
            </a:r>
          </a:p>
          <a:p>
            <a:pPr lvl="0" fontAlgn="base"/>
            <a:r>
              <a:rPr lang="nl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Coexistence</a:t>
            </a:r>
            <a:r>
              <a:rPr lang="nl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Cloud Sync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alongside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Connect Sync. It does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immediate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-or-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replacement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 fontAlgn="base"/>
            <a:r>
              <a:rPr lang="nl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nl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</a:t>
            </a:r>
            <a:r>
              <a:rPr lang="nl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 Writeback v2 in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Connect Sync is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deprecated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longer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supported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Microsoft directs cloud security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provisioning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toward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Cloud Sync.</a:t>
            </a:r>
          </a:p>
          <a:p>
            <a:pPr lvl="0" fontAlgn="base"/>
            <a:r>
              <a:rPr lang="nl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Nested</a:t>
            </a:r>
            <a:r>
              <a:rPr lang="nl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 </a:t>
            </a:r>
            <a:r>
              <a:rPr lang="nl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Pitfall</a:t>
            </a:r>
            <a:r>
              <a:rPr lang="nl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selected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nested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 is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back, but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members are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relevant member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must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placed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scope.</a:t>
            </a:r>
          </a:p>
          <a:p>
            <a:pPr lvl="0" fontAlgn="base"/>
            <a:r>
              <a:rPr lang="nl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</a:t>
            </a:r>
            <a:r>
              <a:rPr lang="nl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Preservation</a:t>
            </a:r>
            <a:r>
              <a:rPr lang="nl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preview scenario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group’s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Source of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Authority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converted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ID,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GroupDN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directory extension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preserve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distinguished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name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CN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mapping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 fontAlgn="base"/>
            <a:r>
              <a:rPr lang="nl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 Nuance: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provisioning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user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provisioning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currently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maturity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level. Group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provisioning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generally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available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user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provisioning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preview.</a:t>
            </a:r>
          </a:p>
          <a:p>
            <a:pPr lvl="0" fontAlgn="base"/>
            <a:endParaRPr lang="nl-N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4096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floor. Capture next month topic ideas in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up. Discord https://aka.ms/M365EMSDiscord and https://www.msems.community/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4.jp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02920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5024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260">
                <a:solidFill>
                  <a:srgbClr val="F5F2FC"/>
                </a:solidFill>
                <a:latin typeface="Consolas"/>
              </a:rPr>
              <a:t>MICROSOFT EMS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965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spc="500">
                <a:solidFill>
                  <a:srgbClr val="22D3EE"/>
                </a:solidFill>
                <a:latin typeface="Consolas"/>
              </a:rPr>
              <a:t>WELCOME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10972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0" b="1" i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CloudHour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4160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F5F2FC"/>
                </a:solidFill>
                <a:latin typeface="Segoe UI"/>
              </a:rPr>
              <a:t>We will start shortly. Grab a drink and pull up a chair.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5029200"/>
            <a:ext cx="27432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5139484"/>
            <a:ext cx="27432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nl-NL" sz="1300" b="1" i="0" spc="100" dirty="0" err="1">
                <a:solidFill>
                  <a:srgbClr val="F5F2FC"/>
                </a:solidFill>
                <a:latin typeface="Consolas"/>
              </a:rPr>
              <a:t>Fri</a:t>
            </a:r>
            <a:r>
              <a:rPr sz="1300" b="1" i="0" spc="100" dirty="0">
                <a:solidFill>
                  <a:srgbClr val="F5F2FC"/>
                </a:solidFill>
                <a:latin typeface="Consolas"/>
              </a:rPr>
              <a:t> · </a:t>
            </a:r>
            <a:r>
              <a:rPr lang="en-US" sz="1300" b="1" spc="100" dirty="0">
                <a:solidFill>
                  <a:srgbClr val="F5F2FC"/>
                </a:solidFill>
                <a:latin typeface="Consolas"/>
              </a:rPr>
              <a:t>04-09-2026</a:t>
            </a:r>
            <a:endParaRPr sz="1300" b="1" i="0" spc="100" dirty="0">
              <a:solidFill>
                <a:srgbClr val="F5F2FC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5304" y="50292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B6AED2"/>
                </a:solidFill>
                <a:latin typeface="Segoe UI"/>
              </a:rPr>
              <a:t>Live round-table  ·  Intune · Entra ID · Defender · Purview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598932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 dirty="0">
                <a:solidFill>
                  <a:srgbClr val="8B83A8"/>
                </a:solidFill>
                <a:latin typeface="Segoe UI"/>
              </a:rPr>
              <a:t>Hosted by </a:t>
            </a:r>
            <a:r>
              <a:rPr sz="1300" b="1" i="0" dirty="0">
                <a:solidFill>
                  <a:srgbClr val="F5F2FC"/>
                </a:solidFill>
                <a:latin typeface="Segoe UI"/>
              </a:rPr>
              <a:t>Jonas Bogvad</a:t>
            </a:r>
            <a:r>
              <a:rPr sz="1300" b="0" i="0" dirty="0">
                <a:solidFill>
                  <a:srgbClr val="8B83A8"/>
                </a:solidFill>
                <a:latin typeface="Segoe UI"/>
              </a:rPr>
              <a:t>   ·   </a:t>
            </a:r>
            <a:r>
              <a:rPr lang="nl-NL" sz="1300" b="0" i="0" dirty="0">
                <a:solidFill>
                  <a:srgbClr val="8B83A8"/>
                </a:solidFill>
                <a:latin typeface="Segoe UI"/>
              </a:rPr>
              <a:t>Joël Prins</a:t>
            </a:r>
            <a:endParaRPr lang="en-US" sz="1300" i="0" dirty="0">
              <a:solidFill>
                <a:srgbClr val="8B83A8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THE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What is CloudHour?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6276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B6AED2"/>
                </a:solidFill>
                <a:latin typeface="Segoe UI"/>
              </a:rPr>
              <a:t>A monthly round-table where the community digs into a few key topics together. Live, practical and unscripted.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661" y="3089757"/>
            <a:ext cx="486460" cy="4864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552" y="3995928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5F2FC"/>
                </a:solidFill>
                <a:latin typeface="Segoe UI Semibold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507992"/>
            <a:ext cx="26496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B6AED2"/>
                </a:solidFill>
                <a:latin typeface="Segoe UI"/>
              </a:rPr>
              <a:t>The EMS stack moves fast. CloudHour keeps the community current on what is changing and what it means in practice.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6986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71034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143" y="3089757"/>
            <a:ext cx="486460" cy="4864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71034" y="3995928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5F2FC"/>
                </a:solidFill>
                <a:latin typeface="Segoe UI Semibold"/>
              </a:rPr>
              <a:t>How you benefit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1034" y="4507992"/>
            <a:ext cx="26496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B6AED2"/>
                </a:solidFill>
                <a:latin typeface="Segoe UI"/>
              </a:rPr>
              <a:t>Real-time discussion with hosts and peers. Ask anything, share your take, learn how others run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0468" y="2514600"/>
            <a:ext cx="3417722" cy="3246120"/>
          </a:xfrm>
          <a:prstGeom prst="roundRect">
            <a:avLst>
              <a:gd name="adj" fmla="val 9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54516" y="2898648"/>
            <a:ext cx="868680" cy="86868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ega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5626" y="3089757"/>
            <a:ext cx="486460" cy="4864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54516" y="3995928"/>
            <a:ext cx="2649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5F2FC"/>
                </a:solidFill>
                <a:latin typeface="Segoe UI Semibold"/>
              </a:rPr>
              <a:t>Shape what is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4516" y="4507992"/>
            <a:ext cx="264962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B6AED2"/>
                </a:solidFill>
                <a:latin typeface="Segoe UI"/>
              </a:rPr>
              <a:t>Bring the topics you care about. The community helps set the agenda for next month.</a:t>
            </a:r>
          </a:p>
        </p:txBody>
      </p:sp>
      <p:pic>
        <p:nvPicPr>
          <p:cNvPr id="21" name="Picture 20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dirty="0" err="1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 ·   Microsoft EMS Community  ·  </a:t>
            </a:r>
            <a:r>
              <a:rPr lang="nl-NL" sz="950" b="0" i="0" dirty="0">
                <a:solidFill>
                  <a:srgbClr val="8B83A8"/>
                </a:solidFill>
                <a:latin typeface="Segoe UI"/>
              </a:rPr>
              <a:t>Sept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REP THE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6675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F5F2FC"/>
                </a:solidFill>
                <a:latin typeface="Segoe UI Semibold"/>
              </a:rPr>
              <a:t>Add the MSEC server tag</a:t>
            </a:r>
          </a:p>
        </p:txBody>
      </p:sp>
      <p:sp>
        <p:nvSpPr>
          <p:cNvPr id="5" name="Oval 4"/>
          <p:cNvSpPr/>
          <p:nvPr/>
        </p:nvSpPr>
        <p:spPr>
          <a:xfrm>
            <a:off x="603504" y="1874519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1856231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819655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Open Discord, then your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0744" y="2221991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Click your name bottom-left, then Edit Profile.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53511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2935223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2898647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Choose Server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3300983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Pick Microsoft EMS Community from the list.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4032503"/>
            <a:ext cx="566928" cy="566928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4014215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F2FC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977639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F5F2FC"/>
                </a:solidFill>
                <a:latin typeface="Segoe UI"/>
              </a:rPr>
              <a:t>Wear it everywhere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4379975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AED2"/>
                </a:solidFill>
                <a:latin typeface="Segoe UI"/>
              </a:rPr>
              <a:t>The MSEC tag shows next to your name across Discord.</a:t>
            </a:r>
          </a:p>
        </p:txBody>
      </p:sp>
      <p:pic>
        <p:nvPicPr>
          <p:cNvPr id="17" name="Picture 16" descr="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783080"/>
            <a:ext cx="3246120" cy="1322697"/>
          </a:xfrm>
          <a:prstGeom prst="roundRect">
            <a:avLst>
              <a:gd name="adj" fmla="val 12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18" name="Picture 17" descr="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246120"/>
            <a:ext cx="3063240" cy="1399683"/>
          </a:xfrm>
          <a:prstGeom prst="roundRect">
            <a:avLst>
              <a:gd name="adj" fmla="val 12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19" name="Picture 18" descr="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160520"/>
            <a:ext cx="2194560" cy="1803748"/>
          </a:xfrm>
          <a:prstGeom prst="roundRect">
            <a:avLst>
              <a:gd name="adj" fmla="val 12000"/>
            </a:avLst>
          </a:prstGeom>
          <a:ln w="19050">
            <a:solidFill>
              <a:srgbClr val="FF2E88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20" name="Picture 19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86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 ·   Microsoft EMS Community  ·  Jul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591056"/>
            <a:ext cx="105156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450" dirty="0">
                <a:solidFill>
                  <a:srgbClr val="B6AED2"/>
                </a:solidFill>
                <a:latin typeface="Segoe UI"/>
              </a:rPr>
              <a:t>We </a:t>
            </a:r>
            <a:r>
              <a:rPr lang="nl-NL" sz="1450" dirty="0" err="1">
                <a:solidFill>
                  <a:srgbClr val="B6AED2"/>
                </a:solidFill>
                <a:latin typeface="Segoe UI"/>
              </a:rPr>
              <a:t>prepped</a:t>
            </a:r>
            <a:r>
              <a:rPr lang="nl-NL" sz="1450" dirty="0">
                <a:solidFill>
                  <a:srgbClr val="B6AED2"/>
                </a:solidFill>
                <a:latin typeface="Segoe UI"/>
              </a:rPr>
              <a:t> </a:t>
            </a:r>
            <a:r>
              <a:rPr lang="nl-NL" sz="1450" dirty="0" err="1">
                <a:solidFill>
                  <a:srgbClr val="B6AED2"/>
                </a:solidFill>
                <a:latin typeface="Segoe UI"/>
              </a:rPr>
              <a:t>two</a:t>
            </a:r>
            <a:r>
              <a:rPr sz="1450" b="0" i="0" dirty="0">
                <a:solidFill>
                  <a:srgbClr val="B6AED2"/>
                </a:solidFill>
                <a:latin typeface="Segoe UI"/>
              </a:rPr>
              <a:t>, then we open the floor. We will not get to all of them, so pick your battles.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066543"/>
            <a:ext cx="10189464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804672" y="2295144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276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249424"/>
            <a:ext cx="507641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600" b="1" i="0" dirty="0">
                <a:solidFill>
                  <a:srgbClr val="F5F2FC"/>
                </a:solidFill>
                <a:latin typeface="Segoe UI"/>
              </a:rPr>
              <a:t>Passkey </a:t>
            </a:r>
            <a:r>
              <a:rPr lang="nl-NL" sz="1600" b="1" i="0" dirty="0" err="1">
                <a:solidFill>
                  <a:srgbClr val="F5F2FC"/>
                </a:solidFill>
                <a:latin typeface="Segoe UI"/>
              </a:rPr>
              <a:t>by</a:t>
            </a:r>
            <a:r>
              <a:rPr lang="nl-NL" sz="1600" b="1" i="0" dirty="0">
                <a:solidFill>
                  <a:srgbClr val="F5F2FC"/>
                </a:solidFill>
                <a:latin typeface="Segoe UI"/>
              </a:rPr>
              <a:t> Default &amp; SMS/Voice </a:t>
            </a:r>
            <a:r>
              <a:rPr lang="nl-NL" sz="1600" b="1" i="0" dirty="0" err="1">
                <a:solidFill>
                  <a:srgbClr val="F5F2FC"/>
                </a:solidFill>
                <a:latin typeface="Segoe UI"/>
              </a:rPr>
              <a:t>Disablement</a:t>
            </a:r>
            <a:endParaRPr sz="1600" b="1" i="0" dirty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9032" y="2596896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150" b="0" i="0" dirty="0" err="1">
                <a:solidFill>
                  <a:srgbClr val="B6AED2"/>
                </a:solidFill>
                <a:latin typeface="Consolas"/>
              </a:rPr>
              <a:t>Entra</a:t>
            </a:r>
            <a:r>
              <a:rPr lang="nl-NL" sz="1150" b="0" i="0" dirty="0">
                <a:solidFill>
                  <a:srgbClr val="B6AED2"/>
                </a:solidFill>
                <a:latin typeface="Consolas"/>
              </a:rPr>
              <a:t> ID</a:t>
            </a:r>
            <a:r>
              <a:rPr sz="1150" b="0" i="0" dirty="0">
                <a:solidFill>
                  <a:srgbClr val="B6AED2"/>
                </a:solidFill>
                <a:latin typeface="Consolas"/>
              </a:rPr>
              <a:t> · </a:t>
            </a:r>
            <a:r>
              <a:rPr lang="nl-NL" sz="1150" b="0" i="0" dirty="0">
                <a:solidFill>
                  <a:srgbClr val="B6AED2"/>
                </a:solidFill>
                <a:latin typeface="Consolas"/>
              </a:rPr>
              <a:t>Identity</a:t>
            </a:r>
            <a:endParaRPr sz="1150" b="0" i="0" dirty="0">
              <a:solidFill>
                <a:srgbClr val="B6AED2"/>
              </a:solidFill>
              <a:latin typeface="Consola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437606" y="2397594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37606" y="2379306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LIVE</a:t>
            </a:r>
          </a:p>
        </p:txBody>
      </p:sp>
      <p:pic>
        <p:nvPicPr>
          <p:cNvPr id="49" name="Picture 4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dirty="0" err="1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 ·   Microsoft EMS Community  ·  </a:t>
            </a:r>
            <a:r>
              <a:rPr lang="nl-NL" sz="950" b="0" i="0" dirty="0">
                <a:solidFill>
                  <a:srgbClr val="8B83A8"/>
                </a:solidFill>
                <a:latin typeface="Segoe UI"/>
              </a:rPr>
              <a:t>Sept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BB4EB-2A10-CFDE-44DA-96AFB9D98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ADDA9472-E9FC-A1F2-9E4D-9BDB30EC7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3287CA-BD8B-E2CB-28E0-1B4722592760}"/>
              </a:ext>
            </a:extLst>
          </p:cNvPr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TODAY'S 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972AA-4A27-0496-6DA6-5DDCAA729625}"/>
              </a:ext>
            </a:extLst>
          </p:cNvPr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On the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FD174-B2FD-A5CC-F599-F29BD3254666}"/>
              </a:ext>
            </a:extLst>
          </p:cNvPr>
          <p:cNvSpPr txBox="1"/>
          <p:nvPr/>
        </p:nvSpPr>
        <p:spPr>
          <a:xfrm>
            <a:off x="603504" y="1591056"/>
            <a:ext cx="105156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450" dirty="0">
                <a:solidFill>
                  <a:srgbClr val="B6AED2"/>
                </a:solidFill>
                <a:latin typeface="Segoe UI"/>
              </a:rPr>
              <a:t>We </a:t>
            </a:r>
            <a:r>
              <a:rPr lang="nl-NL" sz="1450" dirty="0" err="1">
                <a:solidFill>
                  <a:srgbClr val="B6AED2"/>
                </a:solidFill>
                <a:latin typeface="Segoe UI"/>
              </a:rPr>
              <a:t>prepped</a:t>
            </a:r>
            <a:r>
              <a:rPr lang="nl-NL" sz="1450" dirty="0">
                <a:solidFill>
                  <a:srgbClr val="B6AED2"/>
                </a:solidFill>
                <a:latin typeface="Segoe UI"/>
              </a:rPr>
              <a:t> </a:t>
            </a:r>
            <a:r>
              <a:rPr lang="nl-NL" sz="1450" dirty="0" err="1">
                <a:solidFill>
                  <a:srgbClr val="B6AED2"/>
                </a:solidFill>
                <a:latin typeface="Segoe UI"/>
              </a:rPr>
              <a:t>two</a:t>
            </a:r>
            <a:r>
              <a:rPr sz="1450" b="0" i="0" dirty="0">
                <a:solidFill>
                  <a:srgbClr val="B6AED2"/>
                </a:solidFill>
                <a:latin typeface="Segoe UI"/>
              </a:rPr>
              <a:t>, then we open the floor. We will not get to all of them, so pick your battles.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9BA7515-B6D4-C16A-1012-3EBF698E9E47}"/>
              </a:ext>
            </a:extLst>
          </p:cNvPr>
          <p:cNvSpPr/>
          <p:nvPr/>
        </p:nvSpPr>
        <p:spPr>
          <a:xfrm>
            <a:off x="603504" y="2066543"/>
            <a:ext cx="10189464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529CAB-2F67-D4CF-E1FB-38C3429905F0}"/>
              </a:ext>
            </a:extLst>
          </p:cNvPr>
          <p:cNvSpPr/>
          <p:nvPr/>
        </p:nvSpPr>
        <p:spPr>
          <a:xfrm>
            <a:off x="804672" y="2295144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6849F6-A1AE-61E5-9A26-DC27F1CA5FE1}"/>
              </a:ext>
            </a:extLst>
          </p:cNvPr>
          <p:cNvSpPr txBox="1"/>
          <p:nvPr/>
        </p:nvSpPr>
        <p:spPr>
          <a:xfrm>
            <a:off x="804672" y="2276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EB550-D57A-D6FF-D1A1-C527DA4A8192}"/>
              </a:ext>
            </a:extLst>
          </p:cNvPr>
          <p:cNvSpPr txBox="1"/>
          <p:nvPr/>
        </p:nvSpPr>
        <p:spPr>
          <a:xfrm>
            <a:off x="1399032" y="2249424"/>
            <a:ext cx="507641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600" b="1" i="0" dirty="0">
                <a:solidFill>
                  <a:srgbClr val="F5F2FC"/>
                </a:solidFill>
                <a:latin typeface="Segoe UI"/>
              </a:rPr>
              <a:t>Passkey </a:t>
            </a:r>
            <a:r>
              <a:rPr lang="nl-NL" sz="1600" b="1" i="0" dirty="0" err="1">
                <a:solidFill>
                  <a:srgbClr val="F5F2FC"/>
                </a:solidFill>
                <a:latin typeface="Segoe UI"/>
              </a:rPr>
              <a:t>by</a:t>
            </a:r>
            <a:r>
              <a:rPr lang="nl-NL" sz="1600" b="1" i="0" dirty="0">
                <a:solidFill>
                  <a:srgbClr val="F5F2FC"/>
                </a:solidFill>
                <a:latin typeface="Segoe UI"/>
              </a:rPr>
              <a:t> Default &amp; SMS/Voice </a:t>
            </a:r>
            <a:r>
              <a:rPr lang="nl-NL" sz="1600" b="1" i="0" dirty="0" err="1">
                <a:solidFill>
                  <a:srgbClr val="F5F2FC"/>
                </a:solidFill>
                <a:latin typeface="Segoe UI"/>
              </a:rPr>
              <a:t>Disablement</a:t>
            </a:r>
            <a:endParaRPr sz="1600" b="1" i="0" dirty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96292D-B5DE-4651-1136-B47EBE33436B}"/>
              </a:ext>
            </a:extLst>
          </p:cNvPr>
          <p:cNvSpPr txBox="1"/>
          <p:nvPr/>
        </p:nvSpPr>
        <p:spPr>
          <a:xfrm>
            <a:off x="1399032" y="2596896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150" b="0" i="0" dirty="0" err="1">
                <a:solidFill>
                  <a:srgbClr val="B6AED2"/>
                </a:solidFill>
                <a:latin typeface="Consolas"/>
              </a:rPr>
              <a:t>Entra</a:t>
            </a:r>
            <a:r>
              <a:rPr lang="nl-NL" sz="1150" b="0" i="0" dirty="0">
                <a:solidFill>
                  <a:srgbClr val="B6AED2"/>
                </a:solidFill>
                <a:latin typeface="Consolas"/>
              </a:rPr>
              <a:t> ID</a:t>
            </a:r>
            <a:r>
              <a:rPr sz="1150" b="0" i="0" dirty="0">
                <a:solidFill>
                  <a:srgbClr val="B6AED2"/>
                </a:solidFill>
                <a:latin typeface="Consolas"/>
              </a:rPr>
              <a:t> · </a:t>
            </a:r>
            <a:r>
              <a:rPr lang="nl-NL" sz="1150" b="0" i="0" dirty="0">
                <a:solidFill>
                  <a:srgbClr val="B6AED2"/>
                </a:solidFill>
                <a:latin typeface="Consolas"/>
              </a:rPr>
              <a:t>Identity</a:t>
            </a:r>
            <a:endParaRPr sz="1150" b="0" i="0" dirty="0">
              <a:solidFill>
                <a:srgbClr val="B6AED2"/>
              </a:solidFill>
              <a:latin typeface="Consola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2F34056-F43C-326F-09FD-EE8308F3A19B}"/>
              </a:ext>
            </a:extLst>
          </p:cNvPr>
          <p:cNvSpPr/>
          <p:nvPr/>
        </p:nvSpPr>
        <p:spPr>
          <a:xfrm>
            <a:off x="9437606" y="2397594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D8327-580F-C3F8-4510-F2239F5EC692}"/>
              </a:ext>
            </a:extLst>
          </p:cNvPr>
          <p:cNvSpPr txBox="1"/>
          <p:nvPr/>
        </p:nvSpPr>
        <p:spPr>
          <a:xfrm>
            <a:off x="9437606" y="2379306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LIVE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8FBE98C-B32F-ABC6-0138-9326A39C46FD}"/>
              </a:ext>
            </a:extLst>
          </p:cNvPr>
          <p:cNvSpPr/>
          <p:nvPr/>
        </p:nvSpPr>
        <p:spPr>
          <a:xfrm>
            <a:off x="603504" y="3108959"/>
            <a:ext cx="10189464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5578C64-B7C0-157D-74E2-6AD956E8EA46}"/>
              </a:ext>
            </a:extLst>
          </p:cNvPr>
          <p:cNvSpPr/>
          <p:nvPr/>
        </p:nvSpPr>
        <p:spPr>
          <a:xfrm>
            <a:off x="804672" y="3337559"/>
            <a:ext cx="457200" cy="4572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C5348A-16DA-16F5-FFE3-F760FD2A3330}"/>
              </a:ext>
            </a:extLst>
          </p:cNvPr>
          <p:cNvSpPr txBox="1"/>
          <p:nvPr/>
        </p:nvSpPr>
        <p:spPr>
          <a:xfrm>
            <a:off x="804672" y="331927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C74D3F-6E07-5CF6-5780-6E2335647024}"/>
              </a:ext>
            </a:extLst>
          </p:cNvPr>
          <p:cNvSpPr txBox="1"/>
          <p:nvPr/>
        </p:nvSpPr>
        <p:spPr>
          <a:xfrm>
            <a:off x="1399032" y="3291839"/>
            <a:ext cx="444361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defTabSz="914400">
              <a:defRPr/>
            </a:pPr>
            <a:r>
              <a:rPr lang="nl-NL" sz="1600" b="1" dirty="0" err="1">
                <a:solidFill>
                  <a:schemeClr val="bg1"/>
                </a:solidFill>
              </a:rPr>
              <a:t>Entra</a:t>
            </a:r>
            <a:r>
              <a:rPr lang="nl-NL" sz="1600" b="1" dirty="0">
                <a:solidFill>
                  <a:schemeClr val="bg1"/>
                </a:solidFill>
              </a:rPr>
              <a:t> Cloud Sync, Cloud-</a:t>
            </a:r>
            <a:r>
              <a:rPr lang="nl-NL" sz="1600" b="1" dirty="0" err="1">
                <a:solidFill>
                  <a:schemeClr val="bg1"/>
                </a:solidFill>
              </a:rPr>
              <a:t>to</a:t>
            </a:r>
            <a:r>
              <a:rPr lang="nl-NL" sz="1600" b="1" dirty="0">
                <a:solidFill>
                  <a:schemeClr val="bg1"/>
                </a:solidFill>
              </a:rPr>
              <a:t>-AD </a:t>
            </a:r>
            <a:r>
              <a:rPr lang="nl-NL" sz="1600" b="1" dirty="0" err="1">
                <a:solidFill>
                  <a:schemeClr val="bg1"/>
                </a:solidFill>
              </a:rPr>
              <a:t>Provisioning</a:t>
            </a:r>
            <a:endParaRPr lang="nl-NL" sz="16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4D794A-A8CC-36FD-DE44-EC353EC275AD}"/>
              </a:ext>
            </a:extLst>
          </p:cNvPr>
          <p:cNvSpPr txBox="1"/>
          <p:nvPr/>
        </p:nvSpPr>
        <p:spPr>
          <a:xfrm>
            <a:off x="1399032" y="3639311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B6AED2"/>
                </a:solidFill>
                <a:latin typeface="Consolas"/>
              </a:rPr>
              <a:t>Entra · </a:t>
            </a:r>
            <a:r>
              <a:rPr lang="nl-NL" sz="1150" dirty="0" err="1">
                <a:solidFill>
                  <a:srgbClr val="B6AED2"/>
                </a:solidFill>
                <a:latin typeface="Consolas"/>
              </a:rPr>
              <a:t>Hyrbid</a:t>
            </a:r>
            <a:endParaRPr sz="1150" b="0" i="0" dirty="0">
              <a:solidFill>
                <a:srgbClr val="B6AED2"/>
              </a:solidFill>
              <a:latin typeface="Consola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7146D41-526A-589A-B883-1CB365C8D5E4}"/>
              </a:ext>
            </a:extLst>
          </p:cNvPr>
          <p:cNvSpPr/>
          <p:nvPr/>
        </p:nvSpPr>
        <p:spPr>
          <a:xfrm>
            <a:off x="9437606" y="3364990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D1C581-8812-8400-B1CE-B0F45B81B417}"/>
              </a:ext>
            </a:extLst>
          </p:cNvPr>
          <p:cNvSpPr txBox="1"/>
          <p:nvPr/>
        </p:nvSpPr>
        <p:spPr>
          <a:xfrm>
            <a:off x="9437606" y="3434350"/>
            <a:ext cx="84124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nl-NL" sz="1000" b="1" i="0" spc="100" dirty="0">
                <a:solidFill>
                  <a:srgbClr val="F5F2FC"/>
                </a:solidFill>
                <a:latin typeface="Consolas"/>
              </a:rPr>
              <a:t>Live</a:t>
            </a:r>
            <a:endParaRPr sz="1000" b="1" i="0" spc="100" dirty="0">
              <a:solidFill>
                <a:srgbClr val="F5F2FC"/>
              </a:solidFill>
              <a:latin typeface="Consolas"/>
            </a:endParaRPr>
          </a:p>
        </p:txBody>
      </p:sp>
      <p:pic>
        <p:nvPicPr>
          <p:cNvPr id="49" name="Picture 48" descr="logo.png">
            <a:extLst>
              <a:ext uri="{FF2B5EF4-FFF2-40B4-BE49-F238E27FC236}">
                <a16:creationId xmlns:a16="http://schemas.microsoft.com/office/drawing/2014/main" id="{D9A6AB35-8073-5916-1E8F-808647355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5D15160-D872-5CBA-8FD6-4A35CBB4CE2B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dirty="0" err="1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 ·   Microsoft EMS Community  ·  </a:t>
            </a:r>
            <a:r>
              <a:rPr lang="nl-NL" sz="950" b="0" i="0" dirty="0">
                <a:solidFill>
                  <a:srgbClr val="8B83A8"/>
                </a:solidFill>
                <a:latin typeface="Segoe UI"/>
              </a:rPr>
              <a:t>Sept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9370863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065F6-4CAA-DE77-D5DD-27C78E333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1930153A-8071-45FF-AB7E-E3DAC7531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E99075-C610-0FE6-7BAD-17E19C82DEDE}"/>
              </a:ext>
            </a:extLst>
          </p:cNvPr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22D3EE"/>
                </a:solidFill>
                <a:latin typeface="Consolas"/>
              </a:rPr>
              <a:t>TODAY'S 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93352-E686-7979-EDE3-4ACC95853B20}"/>
              </a:ext>
            </a:extLst>
          </p:cNvPr>
          <p:cNvSpPr txBox="1"/>
          <p:nvPr/>
        </p:nvSpPr>
        <p:spPr>
          <a:xfrm>
            <a:off x="603504" y="89611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On the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74442-DBF1-66A9-30BB-2E9F1AF71D32}"/>
              </a:ext>
            </a:extLst>
          </p:cNvPr>
          <p:cNvSpPr txBox="1"/>
          <p:nvPr/>
        </p:nvSpPr>
        <p:spPr>
          <a:xfrm>
            <a:off x="603504" y="1591056"/>
            <a:ext cx="105156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450" dirty="0">
                <a:solidFill>
                  <a:srgbClr val="B6AED2"/>
                </a:solidFill>
                <a:latin typeface="Segoe UI"/>
              </a:rPr>
              <a:t>We </a:t>
            </a:r>
            <a:r>
              <a:rPr lang="nl-NL" sz="1450" dirty="0" err="1">
                <a:solidFill>
                  <a:srgbClr val="B6AED2"/>
                </a:solidFill>
                <a:latin typeface="Segoe UI"/>
              </a:rPr>
              <a:t>prepped</a:t>
            </a:r>
            <a:r>
              <a:rPr lang="nl-NL" sz="1450" dirty="0">
                <a:solidFill>
                  <a:srgbClr val="B6AED2"/>
                </a:solidFill>
                <a:latin typeface="Segoe UI"/>
              </a:rPr>
              <a:t> </a:t>
            </a:r>
            <a:r>
              <a:rPr lang="nl-NL" sz="1450" dirty="0" err="1">
                <a:solidFill>
                  <a:srgbClr val="B6AED2"/>
                </a:solidFill>
                <a:latin typeface="Segoe UI"/>
              </a:rPr>
              <a:t>two</a:t>
            </a:r>
            <a:r>
              <a:rPr sz="1450" b="0" i="0" dirty="0">
                <a:solidFill>
                  <a:srgbClr val="B6AED2"/>
                </a:solidFill>
                <a:latin typeface="Segoe UI"/>
              </a:rPr>
              <a:t>, then we open the floor. We will not get to all of them, so pick your battles.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8F97AB-8A8E-0853-080F-4A89F435EA00}"/>
              </a:ext>
            </a:extLst>
          </p:cNvPr>
          <p:cNvSpPr/>
          <p:nvPr/>
        </p:nvSpPr>
        <p:spPr>
          <a:xfrm>
            <a:off x="603504" y="2066543"/>
            <a:ext cx="10189464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959B7A-A055-7AF9-9E25-C1620E649BED}"/>
              </a:ext>
            </a:extLst>
          </p:cNvPr>
          <p:cNvSpPr/>
          <p:nvPr/>
        </p:nvSpPr>
        <p:spPr>
          <a:xfrm>
            <a:off x="804672" y="2295144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CEC0EE-5D2D-2FA1-3922-88A9F164FC85}"/>
              </a:ext>
            </a:extLst>
          </p:cNvPr>
          <p:cNvSpPr txBox="1"/>
          <p:nvPr/>
        </p:nvSpPr>
        <p:spPr>
          <a:xfrm>
            <a:off x="804672" y="2276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4F4E4-E0F4-85D7-936A-0CE07B646F0A}"/>
              </a:ext>
            </a:extLst>
          </p:cNvPr>
          <p:cNvSpPr txBox="1"/>
          <p:nvPr/>
        </p:nvSpPr>
        <p:spPr>
          <a:xfrm>
            <a:off x="1399032" y="2249424"/>
            <a:ext cx="507641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600" b="1" i="0" dirty="0">
                <a:solidFill>
                  <a:srgbClr val="F5F2FC"/>
                </a:solidFill>
                <a:latin typeface="Segoe UI"/>
              </a:rPr>
              <a:t>Passkey </a:t>
            </a:r>
            <a:r>
              <a:rPr lang="nl-NL" sz="1600" b="1" i="0" dirty="0" err="1">
                <a:solidFill>
                  <a:srgbClr val="F5F2FC"/>
                </a:solidFill>
                <a:latin typeface="Segoe UI"/>
              </a:rPr>
              <a:t>by</a:t>
            </a:r>
            <a:r>
              <a:rPr lang="nl-NL" sz="1600" b="1" i="0" dirty="0">
                <a:solidFill>
                  <a:srgbClr val="F5F2FC"/>
                </a:solidFill>
                <a:latin typeface="Segoe UI"/>
              </a:rPr>
              <a:t> Default &amp; SMS/Voice </a:t>
            </a:r>
            <a:r>
              <a:rPr lang="nl-NL" sz="1600" b="1" i="0" dirty="0" err="1">
                <a:solidFill>
                  <a:srgbClr val="F5F2FC"/>
                </a:solidFill>
                <a:latin typeface="Segoe UI"/>
              </a:rPr>
              <a:t>Disablement</a:t>
            </a:r>
            <a:endParaRPr sz="1600" b="1" i="0" dirty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DA5B7D-7170-BBC2-4685-9279B3027859}"/>
              </a:ext>
            </a:extLst>
          </p:cNvPr>
          <p:cNvSpPr txBox="1"/>
          <p:nvPr/>
        </p:nvSpPr>
        <p:spPr>
          <a:xfrm>
            <a:off x="1399032" y="2596896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150" b="0" i="0" dirty="0" err="1">
                <a:solidFill>
                  <a:srgbClr val="B6AED2"/>
                </a:solidFill>
                <a:latin typeface="Consolas"/>
              </a:rPr>
              <a:t>Entra</a:t>
            </a:r>
            <a:r>
              <a:rPr lang="nl-NL" sz="1150" b="0" i="0" dirty="0">
                <a:solidFill>
                  <a:srgbClr val="B6AED2"/>
                </a:solidFill>
                <a:latin typeface="Consolas"/>
              </a:rPr>
              <a:t> ID</a:t>
            </a:r>
            <a:r>
              <a:rPr sz="1150" b="0" i="0" dirty="0">
                <a:solidFill>
                  <a:srgbClr val="B6AED2"/>
                </a:solidFill>
                <a:latin typeface="Consolas"/>
              </a:rPr>
              <a:t> · </a:t>
            </a:r>
            <a:r>
              <a:rPr lang="nl-NL" sz="1150" b="0" i="0" dirty="0">
                <a:solidFill>
                  <a:srgbClr val="B6AED2"/>
                </a:solidFill>
                <a:latin typeface="Consolas"/>
              </a:rPr>
              <a:t>Identity</a:t>
            </a:r>
            <a:endParaRPr sz="1150" b="0" i="0" dirty="0">
              <a:solidFill>
                <a:srgbClr val="B6AED2"/>
              </a:solidFill>
              <a:latin typeface="Consola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A39A178-F7FD-BC81-774C-A60B13211EBB}"/>
              </a:ext>
            </a:extLst>
          </p:cNvPr>
          <p:cNvSpPr/>
          <p:nvPr/>
        </p:nvSpPr>
        <p:spPr>
          <a:xfrm>
            <a:off x="9437606" y="2397594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078DD2-CDC0-A268-9051-13EAC7317927}"/>
              </a:ext>
            </a:extLst>
          </p:cNvPr>
          <p:cNvSpPr txBox="1"/>
          <p:nvPr/>
        </p:nvSpPr>
        <p:spPr>
          <a:xfrm>
            <a:off x="9437606" y="2379306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F5F2FC"/>
                </a:solidFill>
                <a:latin typeface="Consolas"/>
              </a:rPr>
              <a:t>LIVE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0C61EC3-42A3-2DF3-1765-8D7E1E63D5AE}"/>
              </a:ext>
            </a:extLst>
          </p:cNvPr>
          <p:cNvSpPr/>
          <p:nvPr/>
        </p:nvSpPr>
        <p:spPr>
          <a:xfrm>
            <a:off x="603504" y="3108959"/>
            <a:ext cx="10189464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2C64CC8-10E8-C086-F858-F5FD950A3C65}"/>
              </a:ext>
            </a:extLst>
          </p:cNvPr>
          <p:cNvSpPr/>
          <p:nvPr/>
        </p:nvSpPr>
        <p:spPr>
          <a:xfrm>
            <a:off x="804672" y="3337559"/>
            <a:ext cx="457200" cy="4572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5D4953-0768-47E5-E397-6FC4B1E2D8AD}"/>
              </a:ext>
            </a:extLst>
          </p:cNvPr>
          <p:cNvSpPr txBox="1"/>
          <p:nvPr/>
        </p:nvSpPr>
        <p:spPr>
          <a:xfrm>
            <a:off x="804672" y="331927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6EF0B8-D28A-C6F5-E45D-64964788AFAF}"/>
              </a:ext>
            </a:extLst>
          </p:cNvPr>
          <p:cNvSpPr txBox="1"/>
          <p:nvPr/>
        </p:nvSpPr>
        <p:spPr>
          <a:xfrm>
            <a:off x="1399032" y="3291839"/>
            <a:ext cx="444361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defTabSz="914400">
              <a:defRPr/>
            </a:pPr>
            <a:r>
              <a:rPr lang="nl-NL" sz="1600" b="1" dirty="0" err="1">
                <a:solidFill>
                  <a:schemeClr val="bg1"/>
                </a:solidFill>
              </a:rPr>
              <a:t>Entra</a:t>
            </a:r>
            <a:r>
              <a:rPr lang="nl-NL" sz="1600" b="1" dirty="0">
                <a:solidFill>
                  <a:schemeClr val="bg1"/>
                </a:solidFill>
              </a:rPr>
              <a:t> Cloud Sync, Cloud-</a:t>
            </a:r>
            <a:r>
              <a:rPr lang="nl-NL" sz="1600" b="1" dirty="0" err="1">
                <a:solidFill>
                  <a:schemeClr val="bg1"/>
                </a:solidFill>
              </a:rPr>
              <a:t>to</a:t>
            </a:r>
            <a:r>
              <a:rPr lang="nl-NL" sz="1600" b="1" dirty="0">
                <a:solidFill>
                  <a:schemeClr val="bg1"/>
                </a:solidFill>
              </a:rPr>
              <a:t>-AD </a:t>
            </a:r>
            <a:r>
              <a:rPr lang="nl-NL" sz="1600" b="1" dirty="0" err="1">
                <a:solidFill>
                  <a:schemeClr val="bg1"/>
                </a:solidFill>
              </a:rPr>
              <a:t>Provisioning</a:t>
            </a:r>
            <a:endParaRPr lang="nl-NL" sz="16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FB63EC-852B-A632-5EBA-2F347AFA61D8}"/>
              </a:ext>
            </a:extLst>
          </p:cNvPr>
          <p:cNvSpPr txBox="1"/>
          <p:nvPr/>
        </p:nvSpPr>
        <p:spPr>
          <a:xfrm>
            <a:off x="1399032" y="3639311"/>
            <a:ext cx="345780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B6AED2"/>
                </a:solidFill>
                <a:latin typeface="Consolas"/>
              </a:rPr>
              <a:t>Entra · </a:t>
            </a:r>
            <a:r>
              <a:rPr lang="nl-NL" sz="1150" dirty="0" err="1">
                <a:solidFill>
                  <a:srgbClr val="B6AED2"/>
                </a:solidFill>
                <a:latin typeface="Consolas"/>
              </a:rPr>
              <a:t>Hyrbid</a:t>
            </a:r>
            <a:endParaRPr sz="1150" b="0" i="0" dirty="0">
              <a:solidFill>
                <a:srgbClr val="B6AED2"/>
              </a:solidFill>
              <a:latin typeface="Consola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52D98AE-D4F5-9B6A-3E4D-0652024AFBAC}"/>
              </a:ext>
            </a:extLst>
          </p:cNvPr>
          <p:cNvSpPr/>
          <p:nvPr/>
        </p:nvSpPr>
        <p:spPr>
          <a:xfrm>
            <a:off x="9437606" y="3364990"/>
            <a:ext cx="841248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C40C34-BD46-605B-FA8B-1230E32056E9}"/>
              </a:ext>
            </a:extLst>
          </p:cNvPr>
          <p:cNvSpPr txBox="1"/>
          <p:nvPr/>
        </p:nvSpPr>
        <p:spPr>
          <a:xfrm>
            <a:off x="9437606" y="3434350"/>
            <a:ext cx="84124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nl-NL" sz="1000" b="1" i="0" spc="100" dirty="0">
                <a:solidFill>
                  <a:srgbClr val="F5F2FC"/>
                </a:solidFill>
                <a:latin typeface="Consolas"/>
              </a:rPr>
              <a:t>Live</a:t>
            </a:r>
            <a:endParaRPr sz="1000" b="1" i="0" spc="100" dirty="0">
              <a:solidFill>
                <a:srgbClr val="F5F2FC"/>
              </a:solidFill>
              <a:latin typeface="Consola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F9C6538-0142-95E5-85A0-19CDD9B467A0}"/>
              </a:ext>
            </a:extLst>
          </p:cNvPr>
          <p:cNvSpPr/>
          <p:nvPr/>
        </p:nvSpPr>
        <p:spPr>
          <a:xfrm>
            <a:off x="603504" y="4151375"/>
            <a:ext cx="10189464" cy="896111"/>
          </a:xfrm>
          <a:prstGeom prst="roundRect">
            <a:avLst>
              <a:gd name="adj" fmla="val 16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9EE3613-2B93-F4DD-B5B4-6B6BB7BD3100}"/>
              </a:ext>
            </a:extLst>
          </p:cNvPr>
          <p:cNvSpPr/>
          <p:nvPr/>
        </p:nvSpPr>
        <p:spPr>
          <a:xfrm>
            <a:off x="804672" y="43799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6B5998-A9DD-5232-066D-5FBCF8B30280}"/>
              </a:ext>
            </a:extLst>
          </p:cNvPr>
          <p:cNvSpPr txBox="1"/>
          <p:nvPr/>
        </p:nvSpPr>
        <p:spPr>
          <a:xfrm>
            <a:off x="804672" y="43616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5F2FC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E89A5-017D-6158-C246-BC1801B72A31}"/>
              </a:ext>
            </a:extLst>
          </p:cNvPr>
          <p:cNvSpPr txBox="1"/>
          <p:nvPr/>
        </p:nvSpPr>
        <p:spPr>
          <a:xfrm>
            <a:off x="1399032" y="4334255"/>
            <a:ext cx="507641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600" b="1" i="0" dirty="0">
                <a:solidFill>
                  <a:srgbClr val="F5F2FC"/>
                </a:solidFill>
                <a:latin typeface="Segoe UI"/>
              </a:rPr>
              <a:t>Open floor / AMA / Casual </a:t>
            </a:r>
            <a:r>
              <a:rPr lang="nl-NL" sz="1600" b="1" i="0" dirty="0" err="1">
                <a:solidFill>
                  <a:srgbClr val="F5F2FC"/>
                </a:solidFill>
                <a:latin typeface="Segoe UI"/>
              </a:rPr>
              <a:t>Cloudhour</a:t>
            </a:r>
            <a:endParaRPr sz="1600" b="1" i="0" dirty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18755E-7BDF-8225-C09C-E490B3EA0F8F}"/>
              </a:ext>
            </a:extLst>
          </p:cNvPr>
          <p:cNvSpPr txBox="1"/>
          <p:nvPr/>
        </p:nvSpPr>
        <p:spPr>
          <a:xfrm>
            <a:off x="1399032" y="4681727"/>
            <a:ext cx="46969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nl-NL" sz="1150" b="0" i="0" dirty="0">
                <a:solidFill>
                  <a:srgbClr val="B6AED2"/>
                </a:solidFill>
                <a:latin typeface="Consolas"/>
              </a:rPr>
              <a:t>Microsoft</a:t>
            </a:r>
            <a:r>
              <a:rPr sz="1150" b="0" i="0" dirty="0">
                <a:solidFill>
                  <a:srgbClr val="B6AED2"/>
                </a:solidFill>
                <a:latin typeface="Consolas"/>
              </a:rPr>
              <a:t> · </a:t>
            </a:r>
            <a:r>
              <a:rPr lang="nl-NL" sz="1200" dirty="0">
                <a:solidFill>
                  <a:srgbClr val="B6AED2"/>
                </a:solidFill>
                <a:latin typeface="Segoe UI"/>
              </a:rPr>
              <a:t>topic </a:t>
            </a:r>
            <a:r>
              <a:rPr lang="nl-NL" sz="1200" dirty="0" err="1">
                <a:solidFill>
                  <a:srgbClr val="B6AED2"/>
                </a:solidFill>
                <a:latin typeface="Segoe UI"/>
              </a:rPr>
              <a:t>from</a:t>
            </a:r>
            <a:r>
              <a:rPr lang="nl-NL" sz="1200" dirty="0">
                <a:solidFill>
                  <a:srgbClr val="B6AED2"/>
                </a:solidFill>
                <a:latin typeface="Segoe UI"/>
              </a:rPr>
              <a:t> </a:t>
            </a:r>
            <a:r>
              <a:rPr lang="nl-NL" sz="1200" dirty="0" err="1">
                <a:solidFill>
                  <a:srgbClr val="B6AED2"/>
                </a:solidFill>
                <a:latin typeface="Segoe UI"/>
              </a:rPr>
              <a:t>the</a:t>
            </a:r>
            <a:r>
              <a:rPr lang="nl-NL" sz="1200" dirty="0">
                <a:solidFill>
                  <a:srgbClr val="B6AED2"/>
                </a:solidFill>
                <a:latin typeface="Segoe UI"/>
              </a:rPr>
              <a:t> </a:t>
            </a:r>
            <a:r>
              <a:rPr lang="nl-NL" sz="1200" dirty="0" err="1">
                <a:solidFill>
                  <a:srgbClr val="B6AED2"/>
                </a:solidFill>
                <a:latin typeface="Segoe UI"/>
              </a:rPr>
              <a:t>crowd</a:t>
            </a:r>
            <a:r>
              <a:rPr lang="nl-NL" sz="1200" dirty="0">
                <a:solidFill>
                  <a:srgbClr val="B6AED2"/>
                </a:solidFill>
                <a:latin typeface="Segoe UI"/>
              </a:rPr>
              <a:t>. Open floor, </a:t>
            </a:r>
            <a:r>
              <a:rPr lang="nl-NL" sz="1200" dirty="0" err="1">
                <a:solidFill>
                  <a:srgbClr val="B6AED2"/>
                </a:solidFill>
                <a:latin typeface="Segoe UI"/>
              </a:rPr>
              <a:t>bring</a:t>
            </a:r>
            <a:r>
              <a:rPr lang="nl-NL" sz="1200" dirty="0">
                <a:solidFill>
                  <a:srgbClr val="B6AED2"/>
                </a:solidFill>
                <a:latin typeface="Segoe UI"/>
              </a:rPr>
              <a:t> </a:t>
            </a:r>
            <a:r>
              <a:rPr lang="nl-NL" sz="1200" dirty="0" err="1">
                <a:solidFill>
                  <a:srgbClr val="B6AED2"/>
                </a:solidFill>
                <a:latin typeface="Segoe UI"/>
              </a:rPr>
              <a:t>your</a:t>
            </a:r>
            <a:r>
              <a:rPr lang="nl-NL" sz="1200" dirty="0">
                <a:solidFill>
                  <a:srgbClr val="B6AED2"/>
                </a:solidFill>
                <a:latin typeface="Segoe UI"/>
              </a:rPr>
              <a:t> </a:t>
            </a:r>
            <a:r>
              <a:rPr lang="nl-NL" sz="1200" dirty="0" err="1">
                <a:solidFill>
                  <a:srgbClr val="B6AED2"/>
                </a:solidFill>
                <a:latin typeface="Segoe UI"/>
              </a:rPr>
              <a:t>own</a:t>
            </a:r>
            <a:r>
              <a:rPr lang="nl-NL" sz="1200" dirty="0">
                <a:solidFill>
                  <a:srgbClr val="B6AED2"/>
                </a:solidFill>
                <a:latin typeface="Segoe UI"/>
              </a:rPr>
              <a:t>.</a:t>
            </a:r>
            <a:endParaRPr sz="1150" b="0" i="0" dirty="0">
              <a:solidFill>
                <a:srgbClr val="B6AED2"/>
              </a:solidFill>
              <a:latin typeface="Consolas"/>
            </a:endParaRPr>
          </a:p>
        </p:txBody>
      </p:sp>
      <p:pic>
        <p:nvPicPr>
          <p:cNvPr id="49" name="Picture 48" descr="logo.png">
            <a:extLst>
              <a:ext uri="{FF2B5EF4-FFF2-40B4-BE49-F238E27FC236}">
                <a16:creationId xmlns:a16="http://schemas.microsoft.com/office/drawing/2014/main" id="{3EB225E9-FA06-9394-CA18-2A7B6A984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6E805B0-F757-06F8-33F0-87E92D0AAC05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dirty="0" err="1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 ·   Microsoft EMS Community  ·  </a:t>
            </a:r>
            <a:r>
              <a:rPr lang="nl-NL" sz="950" b="0" i="0" dirty="0">
                <a:solidFill>
                  <a:srgbClr val="8B83A8"/>
                </a:solidFill>
                <a:latin typeface="Segoe UI"/>
              </a:rPr>
              <a:t>Sept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553731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" descr="bg_section.png">
            <a:extLst>
              <a:ext uri="{FF2B5EF4-FFF2-40B4-BE49-F238E27FC236}">
                <a16:creationId xmlns:a16="http://schemas.microsoft.com/office/drawing/2014/main" id="{3A8F0E00-51FD-BD2B-4D1B-69AB37C15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Oval 5">
            <a:extLst>
              <a:ext uri="{FF2B5EF4-FFF2-40B4-BE49-F238E27FC236}">
                <a16:creationId xmlns:a16="http://schemas.microsoft.com/office/drawing/2014/main" id="{57CC639C-9E90-CA08-E51B-9A4AB1F54BA5}"/>
              </a:ext>
            </a:extLst>
          </p:cNvPr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6" descr="shield.png">
            <a:extLst>
              <a:ext uri="{FF2B5EF4-FFF2-40B4-BE49-F238E27FC236}">
                <a16:creationId xmlns:a16="http://schemas.microsoft.com/office/drawing/2014/main" id="{7AF5C747-C814-2179-F5AB-C661855C3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3661EAF5-FF40-494A-B788-EE947EE8DAC3}"/>
              </a:ext>
            </a:extLst>
          </p:cNvPr>
          <p:cNvSpPr txBox="1"/>
          <p:nvPr/>
        </p:nvSpPr>
        <p:spPr>
          <a:xfrm>
            <a:off x="1353312" y="2276856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550" b="1" i="0" dirty="0">
                <a:solidFill>
                  <a:srgbClr val="F5F2FC"/>
                </a:solidFill>
                <a:latin typeface="Segoe UI"/>
              </a:rPr>
              <a:t>The trigger</a:t>
            </a:r>
            <a:endParaRPr sz="1550" b="1" i="0" dirty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065D2DE3-61E2-BFE1-020A-DBD76D51F01B}"/>
              </a:ext>
            </a:extLst>
          </p:cNvPr>
          <p:cNvSpPr txBox="1"/>
          <p:nvPr/>
        </p:nvSpPr>
        <p:spPr>
          <a:xfrm>
            <a:off x="1353312" y="2624327"/>
            <a:ext cx="64465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nl-NL" sz="1400" dirty="0" err="1">
                <a:solidFill>
                  <a:schemeClr val="bg1"/>
                </a:solidFill>
              </a:rPr>
              <a:t>Since</a:t>
            </a:r>
            <a:r>
              <a:rPr lang="nl-NL" sz="1400" dirty="0">
                <a:solidFill>
                  <a:schemeClr val="bg1"/>
                </a:solidFill>
              </a:rPr>
              <a:t> September 1, 2026, users </a:t>
            </a:r>
            <a:r>
              <a:rPr lang="nl-NL" sz="1400" dirty="0" err="1">
                <a:solidFill>
                  <a:schemeClr val="bg1"/>
                </a:solidFill>
              </a:rPr>
              <a:t>enabled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for</a:t>
            </a:r>
            <a:r>
              <a:rPr lang="nl-NL" sz="1400" dirty="0">
                <a:solidFill>
                  <a:schemeClr val="bg1"/>
                </a:solidFill>
              </a:rPr>
              <a:t> SMS or </a:t>
            </a:r>
            <a:r>
              <a:rPr lang="nl-NL" sz="1400" dirty="0" err="1">
                <a:solidFill>
                  <a:schemeClr val="bg1"/>
                </a:solidFill>
              </a:rPr>
              <a:t>voice</a:t>
            </a:r>
            <a:r>
              <a:rPr lang="nl-NL" sz="1400" dirty="0">
                <a:solidFill>
                  <a:schemeClr val="bg1"/>
                </a:solidFill>
              </a:rPr>
              <a:t> are </a:t>
            </a:r>
            <a:r>
              <a:rPr lang="nl-NL" sz="1400" dirty="0" err="1">
                <a:solidFill>
                  <a:schemeClr val="bg1"/>
                </a:solidFill>
              </a:rPr>
              <a:t>automatically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enabled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for</a:t>
            </a:r>
            <a:r>
              <a:rPr lang="nl-NL" sz="1400" dirty="0">
                <a:solidFill>
                  <a:schemeClr val="bg1"/>
                </a:solidFill>
              </a:rPr>
              <a:t> passkeys </a:t>
            </a:r>
            <a:r>
              <a:rPr lang="nl-NL" sz="1400" dirty="0" err="1">
                <a:solidFill>
                  <a:schemeClr val="bg1"/>
                </a:solidFill>
              </a:rPr>
              <a:t>and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nudged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to</a:t>
            </a:r>
            <a:r>
              <a:rPr lang="nl-NL" sz="1400" dirty="0">
                <a:solidFill>
                  <a:schemeClr val="bg1"/>
                </a:solidFill>
              </a:rPr>
              <a:t> register </a:t>
            </a:r>
            <a:r>
              <a:rPr lang="nl-NL" sz="1400" dirty="0" err="1">
                <a:solidFill>
                  <a:schemeClr val="bg1"/>
                </a:solidFill>
              </a:rPr>
              <a:t>after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completing</a:t>
            </a:r>
            <a:r>
              <a:rPr lang="nl-NL" sz="1400" dirty="0">
                <a:solidFill>
                  <a:schemeClr val="bg1"/>
                </a:solidFill>
              </a:rPr>
              <a:t> MFA.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F0A8F027-FEC6-7306-3E01-528172683F4C}"/>
              </a:ext>
            </a:extLst>
          </p:cNvPr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10" descr="bolt.png">
            <a:extLst>
              <a:ext uri="{FF2B5EF4-FFF2-40B4-BE49-F238E27FC236}">
                <a16:creationId xmlns:a16="http://schemas.microsoft.com/office/drawing/2014/main" id="{3C99E5FA-EC05-E162-4F50-83B26C146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5689D35B-E949-0AB1-752E-4968166BD455}"/>
              </a:ext>
            </a:extLst>
          </p:cNvPr>
          <p:cNvSpPr txBox="1"/>
          <p:nvPr/>
        </p:nvSpPr>
        <p:spPr>
          <a:xfrm>
            <a:off x="1353312" y="3209544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550" b="1" i="0" dirty="0" err="1">
                <a:solidFill>
                  <a:srgbClr val="F5F2FC"/>
                </a:solidFill>
                <a:latin typeface="Segoe UI"/>
              </a:rPr>
              <a:t>Not</a:t>
            </a:r>
            <a:r>
              <a:rPr lang="nl-NL" sz="1550" b="1" i="0" dirty="0">
                <a:solidFill>
                  <a:srgbClr val="F5F2FC"/>
                </a:solidFill>
                <a:latin typeface="Segoe UI"/>
              </a:rPr>
              <a:t> </a:t>
            </a:r>
            <a:r>
              <a:rPr lang="nl-NL" sz="1550" b="1" i="0" dirty="0" err="1">
                <a:solidFill>
                  <a:srgbClr val="F5F2FC"/>
                </a:solidFill>
                <a:latin typeface="Segoe UI"/>
              </a:rPr>
              <a:t>enforce</a:t>
            </a:r>
            <a:r>
              <a:rPr lang="nl-NL" sz="1550" b="1" dirty="0" err="1">
                <a:solidFill>
                  <a:srgbClr val="F5F2FC"/>
                </a:solidFill>
                <a:latin typeface="Segoe UI"/>
              </a:rPr>
              <a:t>d</a:t>
            </a:r>
            <a:r>
              <a:rPr lang="nl-NL" sz="1550" b="1" dirty="0">
                <a:solidFill>
                  <a:srgbClr val="F5F2FC"/>
                </a:solidFill>
                <a:latin typeface="Segoe UI"/>
              </a:rPr>
              <a:t> </a:t>
            </a:r>
            <a:r>
              <a:rPr lang="nl-NL" sz="1550" b="1" dirty="0" err="1">
                <a:solidFill>
                  <a:srgbClr val="F5F2FC"/>
                </a:solidFill>
                <a:latin typeface="Segoe UI"/>
              </a:rPr>
              <a:t>yet</a:t>
            </a:r>
            <a:endParaRPr sz="1550" b="1" i="0" dirty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0CA275F-C411-B07E-074A-86AD1E0F46C5}"/>
              </a:ext>
            </a:extLst>
          </p:cNvPr>
          <p:cNvSpPr txBox="1"/>
          <p:nvPr/>
        </p:nvSpPr>
        <p:spPr>
          <a:xfrm>
            <a:off x="1353312" y="3557015"/>
            <a:ext cx="64465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fontAlgn="base"/>
            <a:r>
              <a:rPr lang="nl-NL" sz="1400" dirty="0">
                <a:solidFill>
                  <a:schemeClr val="bg1"/>
                </a:solidFill>
              </a:rPr>
              <a:t>The </a:t>
            </a:r>
            <a:r>
              <a:rPr lang="nl-NL" sz="1400" dirty="0" err="1">
                <a:solidFill>
                  <a:schemeClr val="bg1"/>
                </a:solidFill>
              </a:rPr>
              <a:t>registration</a:t>
            </a:r>
            <a:r>
              <a:rPr lang="nl-NL" sz="1400" dirty="0">
                <a:solidFill>
                  <a:schemeClr val="bg1"/>
                </a:solidFill>
              </a:rPr>
              <a:t> prompt </a:t>
            </a:r>
            <a:r>
              <a:rPr lang="nl-NL" sz="1400" dirty="0" err="1">
                <a:solidFill>
                  <a:schemeClr val="bg1"/>
                </a:solidFill>
              </a:rPr>
              <a:t>can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currently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be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postponed</a:t>
            </a:r>
            <a:r>
              <a:rPr lang="nl-NL" sz="1400" dirty="0">
                <a:solidFill>
                  <a:schemeClr val="bg1"/>
                </a:solidFill>
              </a:rPr>
              <a:t>. The </a:t>
            </a:r>
            <a:r>
              <a:rPr lang="nl-NL" sz="1400" dirty="0" err="1">
                <a:solidFill>
                  <a:schemeClr val="bg1"/>
                </a:solidFill>
              </a:rPr>
              <a:t>blocking</a:t>
            </a:r>
            <a:r>
              <a:rPr lang="nl-NL" sz="1400" dirty="0">
                <a:solidFill>
                  <a:schemeClr val="bg1"/>
                </a:solidFill>
              </a:rPr>
              <a:t> experience starts </a:t>
            </a:r>
            <a:r>
              <a:rPr lang="nl-NL" sz="1400" dirty="0" err="1">
                <a:solidFill>
                  <a:schemeClr val="bg1"/>
                </a:solidFill>
              </a:rPr>
              <a:t>after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February</a:t>
            </a:r>
            <a:r>
              <a:rPr lang="nl-NL" sz="1400" dirty="0">
                <a:solidFill>
                  <a:schemeClr val="bg1"/>
                </a:solidFill>
              </a:rPr>
              <a:t> 1, 2027 </a:t>
            </a:r>
            <a:r>
              <a:rPr lang="nl-NL" sz="1400" dirty="0" err="1">
                <a:solidFill>
                  <a:schemeClr val="bg1"/>
                </a:solidFill>
              </a:rPr>
              <a:t>for</a:t>
            </a:r>
            <a:r>
              <a:rPr lang="nl-NL" sz="1400" dirty="0">
                <a:solidFill>
                  <a:schemeClr val="bg1"/>
                </a:solidFill>
              </a:rPr>
              <a:t> users </a:t>
            </a:r>
            <a:r>
              <a:rPr lang="nl-NL" sz="1400" dirty="0" err="1">
                <a:solidFill>
                  <a:schemeClr val="bg1"/>
                </a:solidFill>
              </a:rPr>
              <a:t>whose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only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available</a:t>
            </a:r>
            <a:r>
              <a:rPr lang="nl-NL" sz="1400" dirty="0">
                <a:solidFill>
                  <a:schemeClr val="bg1"/>
                </a:solidFill>
              </a:rPr>
              <a:t> MFA </a:t>
            </a:r>
            <a:r>
              <a:rPr lang="nl-NL" sz="1400" dirty="0" err="1">
                <a:solidFill>
                  <a:schemeClr val="bg1"/>
                </a:solidFill>
              </a:rPr>
              <a:t>method</a:t>
            </a:r>
            <a:r>
              <a:rPr lang="nl-NL" sz="1400" dirty="0">
                <a:solidFill>
                  <a:schemeClr val="bg1"/>
                </a:solidFill>
              </a:rPr>
              <a:t> is SMS or </a:t>
            </a:r>
            <a:r>
              <a:rPr lang="nl-NL" sz="1400" dirty="0" err="1">
                <a:solidFill>
                  <a:schemeClr val="bg1"/>
                </a:solidFill>
              </a:rPr>
              <a:t>voice</a:t>
            </a:r>
            <a:r>
              <a:rPr lang="nl-NL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AC1FFE5F-49FB-0F52-FC85-CA0352E6B444}"/>
              </a:ext>
            </a:extLst>
          </p:cNvPr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4" descr="warning.png">
            <a:extLst>
              <a:ext uri="{FF2B5EF4-FFF2-40B4-BE49-F238E27FC236}">
                <a16:creationId xmlns:a16="http://schemas.microsoft.com/office/drawing/2014/main" id="{1A24F37B-EDDE-6594-48A0-8452C358F1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2" name="TextBox 15">
            <a:extLst>
              <a:ext uri="{FF2B5EF4-FFF2-40B4-BE49-F238E27FC236}">
                <a16:creationId xmlns:a16="http://schemas.microsoft.com/office/drawing/2014/main" id="{EDD446DB-4F03-2314-42E4-0EC1FD2DE1D7}"/>
              </a:ext>
            </a:extLst>
          </p:cNvPr>
          <p:cNvSpPr txBox="1"/>
          <p:nvPr/>
        </p:nvSpPr>
        <p:spPr>
          <a:xfrm>
            <a:off x="1353312" y="4142232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550" b="1" i="0" dirty="0">
                <a:solidFill>
                  <a:srgbClr val="F5F2FC"/>
                </a:solidFill>
                <a:latin typeface="Segoe UI"/>
              </a:rPr>
              <a:t>The temp </a:t>
            </a:r>
            <a:r>
              <a:rPr lang="nl-NL" sz="1550" b="1" i="0" dirty="0" err="1">
                <a:solidFill>
                  <a:srgbClr val="F5F2FC"/>
                </a:solidFill>
                <a:latin typeface="Segoe UI"/>
              </a:rPr>
              <a:t>opt</a:t>
            </a:r>
            <a:r>
              <a:rPr lang="nl-NL" sz="1550" b="1" i="0" dirty="0">
                <a:solidFill>
                  <a:srgbClr val="F5F2FC"/>
                </a:solidFill>
                <a:latin typeface="Segoe UI"/>
              </a:rPr>
              <a:t>-out</a:t>
            </a:r>
            <a:endParaRPr sz="1550" b="1" i="0" dirty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0299603D-9F7B-D634-29BC-36C3EE8BA1C9}"/>
              </a:ext>
            </a:extLst>
          </p:cNvPr>
          <p:cNvSpPr txBox="1"/>
          <p:nvPr/>
        </p:nvSpPr>
        <p:spPr>
          <a:xfrm>
            <a:off x="1353311" y="4489704"/>
            <a:ext cx="965101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fontAlgn="base"/>
            <a:r>
              <a:rPr lang="nl-NL" sz="1400" dirty="0" err="1">
                <a:solidFill>
                  <a:schemeClr val="bg1"/>
                </a:solidFill>
              </a:rPr>
              <a:t>Organizations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can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temporarily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opt</a:t>
            </a:r>
            <a:r>
              <a:rPr lang="nl-NL" sz="1400" dirty="0">
                <a:solidFill>
                  <a:schemeClr val="bg1"/>
                </a:solidFill>
              </a:rPr>
              <a:t> out </a:t>
            </a:r>
            <a:r>
              <a:rPr lang="nl-NL" sz="1400" dirty="0" err="1">
                <a:solidFill>
                  <a:schemeClr val="bg1"/>
                </a:solidFill>
              </a:rPr>
              <a:t>through</a:t>
            </a:r>
            <a:r>
              <a:rPr lang="nl-NL" sz="1400" dirty="0">
                <a:solidFill>
                  <a:schemeClr val="bg1"/>
                </a:solidFill>
              </a:rPr>
              <a:t> Microsoft </a:t>
            </a:r>
            <a:r>
              <a:rPr lang="nl-NL" sz="1400" dirty="0" err="1">
                <a:solidFill>
                  <a:schemeClr val="bg1"/>
                </a:solidFill>
              </a:rPr>
              <a:t>Graph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by</a:t>
            </a:r>
            <a:r>
              <a:rPr lang="nl-NL" sz="1400" dirty="0">
                <a:solidFill>
                  <a:schemeClr val="bg1"/>
                </a:solidFill>
              </a:rPr>
              <a:t> setting </a:t>
            </a:r>
            <a:r>
              <a:rPr lang="nl-NL" sz="1400" dirty="0" err="1">
                <a:solidFill>
                  <a:schemeClr val="bg1"/>
                </a:solidFill>
              </a:rPr>
              <a:t>passkeyDynamicMigration</a:t>
            </a:r>
            <a:r>
              <a:rPr lang="nl-NL" sz="1400" dirty="0">
                <a:solidFill>
                  <a:schemeClr val="bg1"/>
                </a:solidFill>
              </a:rPr>
              <a:t>: </a:t>
            </a:r>
            <a:r>
              <a:rPr lang="nl-NL" sz="1400" dirty="0" err="1">
                <a:solidFill>
                  <a:schemeClr val="bg1"/>
                </a:solidFill>
              </a:rPr>
              <a:t>true</a:t>
            </a:r>
            <a:r>
              <a:rPr lang="nl-NL" sz="1400" dirty="0">
                <a:solidFill>
                  <a:schemeClr val="bg1"/>
                </a:solidFill>
              </a:rPr>
              <a:t>. </a:t>
            </a:r>
            <a:r>
              <a:rPr lang="nl-NL" sz="1400" dirty="0" err="1">
                <a:solidFill>
                  <a:schemeClr val="bg1"/>
                </a:solidFill>
              </a:rPr>
              <a:t>This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delays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the</a:t>
            </a:r>
            <a:r>
              <a:rPr lang="nl-NL" sz="1400" dirty="0">
                <a:solidFill>
                  <a:schemeClr val="bg1"/>
                </a:solidFill>
              </a:rPr>
              <a:t> automatic </a:t>
            </a:r>
            <a:r>
              <a:rPr lang="nl-NL" sz="1400" dirty="0" err="1">
                <a:solidFill>
                  <a:schemeClr val="bg1"/>
                </a:solidFill>
              </a:rPr>
              <a:t>enablement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and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registration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campaign</a:t>
            </a:r>
            <a:r>
              <a:rPr lang="nl-NL" sz="1400" dirty="0">
                <a:solidFill>
                  <a:schemeClr val="bg1"/>
                </a:solidFill>
              </a:rPr>
              <a:t>, but does </a:t>
            </a:r>
            <a:r>
              <a:rPr lang="nl-NL" sz="1400" dirty="0" err="1">
                <a:solidFill>
                  <a:schemeClr val="bg1"/>
                </a:solidFill>
              </a:rPr>
              <a:t>not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provide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an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exemption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from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the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February</a:t>
            </a:r>
            <a:r>
              <a:rPr lang="nl-NL" sz="1400" dirty="0">
                <a:solidFill>
                  <a:schemeClr val="bg1"/>
                </a:solidFill>
              </a:rPr>
              <a:t> 2027 </a:t>
            </a:r>
            <a:r>
              <a:rPr lang="nl-NL" sz="1400" dirty="0" err="1">
                <a:solidFill>
                  <a:schemeClr val="bg1"/>
                </a:solidFill>
              </a:rPr>
              <a:t>enforcement</a:t>
            </a:r>
            <a:r>
              <a:rPr lang="nl-NL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0B6C4B29-4CA3-9C10-0331-1AC907349B14}"/>
              </a:ext>
            </a:extLst>
          </p:cNvPr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8" descr="key.png">
            <a:extLst>
              <a:ext uri="{FF2B5EF4-FFF2-40B4-BE49-F238E27FC236}">
                <a16:creationId xmlns:a16="http://schemas.microsoft.com/office/drawing/2014/main" id="{95505086-D630-1632-C795-0A10C54103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16" name="TextBox 19">
            <a:extLst>
              <a:ext uri="{FF2B5EF4-FFF2-40B4-BE49-F238E27FC236}">
                <a16:creationId xmlns:a16="http://schemas.microsoft.com/office/drawing/2014/main" id="{E2F978F7-BE8D-62C5-0B36-47EB860D4BBE}"/>
              </a:ext>
            </a:extLst>
          </p:cNvPr>
          <p:cNvSpPr txBox="1"/>
          <p:nvPr/>
        </p:nvSpPr>
        <p:spPr>
          <a:xfrm>
            <a:off x="1353312" y="5074920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550" b="1" i="0" dirty="0">
                <a:solidFill>
                  <a:srgbClr val="F5F2FC"/>
                </a:solidFill>
                <a:latin typeface="Segoe UI"/>
              </a:rPr>
              <a:t>Critical nuance</a:t>
            </a:r>
            <a:endParaRPr sz="1550" b="1" i="0" dirty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9CC4C312-A38C-1CD4-6AC3-2909C3596D6A}"/>
              </a:ext>
            </a:extLst>
          </p:cNvPr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A9F75EAE-7A7A-6D76-6D10-DF55E78B76CF}"/>
              </a:ext>
            </a:extLst>
          </p:cNvPr>
          <p:cNvSpPr txBox="1"/>
          <p:nvPr/>
        </p:nvSpPr>
        <p:spPr>
          <a:xfrm>
            <a:off x="603504" y="896112"/>
            <a:ext cx="105156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defTabSz="914400">
              <a:defRPr/>
            </a:pPr>
            <a:r>
              <a:rPr lang="nl-NL" sz="3600" b="1" dirty="0">
                <a:solidFill>
                  <a:schemeClr val="bg1"/>
                </a:solidFill>
              </a:rPr>
              <a:t>Passkeys </a:t>
            </a:r>
            <a:r>
              <a:rPr lang="nl-NL" sz="3600" b="1" dirty="0" err="1">
                <a:solidFill>
                  <a:schemeClr val="bg1"/>
                </a:solidFill>
              </a:rPr>
              <a:t>by</a:t>
            </a:r>
            <a:r>
              <a:rPr lang="nl-NL" sz="3600" b="1" dirty="0">
                <a:solidFill>
                  <a:schemeClr val="bg1"/>
                </a:solidFill>
              </a:rPr>
              <a:t> Default &amp; SMS/Voice </a:t>
            </a:r>
            <a:r>
              <a:rPr lang="nl-NL" sz="3600" b="1" dirty="0" err="1">
                <a:solidFill>
                  <a:schemeClr val="bg1"/>
                </a:solidFill>
              </a:rPr>
              <a:t>Retirement</a:t>
            </a:r>
            <a:endParaRPr lang="nl-NL" sz="3600" b="1" dirty="0">
              <a:solidFill>
                <a:schemeClr val="bg1"/>
              </a:solidFill>
            </a:endParaRPr>
          </a:p>
          <a:p>
            <a:endParaRPr lang="nl-NL" sz="3600" dirty="0"/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5C5BA0A1-D7D6-D370-452C-B9820FE015B2}"/>
              </a:ext>
            </a:extLst>
          </p:cNvPr>
          <p:cNvSpPr txBox="1"/>
          <p:nvPr/>
        </p:nvSpPr>
        <p:spPr>
          <a:xfrm>
            <a:off x="1353311" y="5325366"/>
            <a:ext cx="965101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fontAlgn="base"/>
            <a:r>
              <a:rPr lang="nl-NL" sz="1400" dirty="0">
                <a:solidFill>
                  <a:schemeClr val="bg1"/>
                </a:solidFill>
              </a:rPr>
              <a:t>Having </a:t>
            </a:r>
            <a:r>
              <a:rPr lang="nl-NL" sz="1400" dirty="0" err="1">
                <a:solidFill>
                  <a:schemeClr val="bg1"/>
                </a:solidFill>
              </a:rPr>
              <a:t>another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working</a:t>
            </a:r>
            <a:r>
              <a:rPr lang="nl-NL" sz="1400" dirty="0">
                <a:solidFill>
                  <a:schemeClr val="bg1"/>
                </a:solidFill>
              </a:rPr>
              <a:t> MFA </a:t>
            </a:r>
            <a:r>
              <a:rPr lang="nl-NL" sz="1400" dirty="0" err="1">
                <a:solidFill>
                  <a:schemeClr val="bg1"/>
                </a:solidFill>
              </a:rPr>
              <a:t>method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reduces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the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immediate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lockout</a:t>
            </a:r>
            <a:r>
              <a:rPr lang="nl-NL" sz="1400" dirty="0">
                <a:solidFill>
                  <a:schemeClr val="bg1"/>
                </a:solidFill>
              </a:rPr>
              <a:t> risk, but </a:t>
            </a:r>
            <a:r>
              <a:rPr lang="nl-NL" sz="1400" dirty="0" err="1">
                <a:solidFill>
                  <a:schemeClr val="bg1"/>
                </a:solidFill>
              </a:rPr>
              <a:t>Microsoft’s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recommended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destination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remains</a:t>
            </a:r>
            <a:r>
              <a:rPr lang="nl-NL" sz="1400" dirty="0">
                <a:solidFill>
                  <a:schemeClr val="bg1"/>
                </a:solidFill>
              </a:rPr>
              <a:t> a </a:t>
            </a:r>
            <a:r>
              <a:rPr lang="nl-NL" sz="1400" dirty="0" err="1">
                <a:solidFill>
                  <a:schemeClr val="bg1"/>
                </a:solidFill>
              </a:rPr>
              <a:t>phishing-resistant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method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such</a:t>
            </a:r>
            <a:r>
              <a:rPr lang="nl-NL" sz="1400" dirty="0">
                <a:solidFill>
                  <a:schemeClr val="bg1"/>
                </a:solidFill>
              </a:rPr>
              <a:t> as a passkey, Windows </a:t>
            </a:r>
            <a:r>
              <a:rPr lang="nl-NL" sz="1400" dirty="0" err="1">
                <a:solidFill>
                  <a:schemeClr val="bg1"/>
                </a:solidFill>
              </a:rPr>
              <a:t>Hello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for</a:t>
            </a:r>
            <a:r>
              <a:rPr lang="nl-NL" sz="1400" dirty="0">
                <a:solidFill>
                  <a:schemeClr val="bg1"/>
                </a:solidFill>
              </a:rPr>
              <a:t> Business or a FIDO2 security </a:t>
            </a:r>
            <a:r>
              <a:rPr lang="nl-NL" sz="1400" dirty="0" err="1">
                <a:solidFill>
                  <a:schemeClr val="bg1"/>
                </a:solidFill>
              </a:rPr>
              <a:t>key</a:t>
            </a:r>
            <a:r>
              <a:rPr lang="nl-NL" sz="1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54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392C0-EA65-44C3-3A7C-C64EDA2F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9AB1ED2C-004E-4C69-31D2-45D7F7B56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FE58EB-826C-77C2-DA55-128860C0E36E}"/>
              </a:ext>
            </a:extLst>
          </p:cNvPr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0C5C5C-18CB-6EA5-6E1D-CBBDD1BE3C63}"/>
              </a:ext>
            </a:extLst>
          </p:cNvPr>
          <p:cNvSpPr/>
          <p:nvPr/>
        </p:nvSpPr>
        <p:spPr>
          <a:xfrm>
            <a:off x="479226" y="1535770"/>
            <a:ext cx="5309463" cy="2661748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1F023-1E25-631D-3E48-01C1AB13259E}"/>
              </a:ext>
            </a:extLst>
          </p:cNvPr>
          <p:cNvSpPr txBox="1"/>
          <p:nvPr/>
        </p:nvSpPr>
        <p:spPr>
          <a:xfrm>
            <a:off x="1146738" y="2028213"/>
            <a:ext cx="3974438" cy="12311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nl-NL" sz="2000" i="1" dirty="0">
                <a:solidFill>
                  <a:schemeClr val="bg1"/>
                </a:solidFill>
              </a:rPr>
              <a:t>Is </a:t>
            </a:r>
            <a:r>
              <a:rPr lang="nl-NL" sz="2000" i="1" dirty="0" err="1">
                <a:solidFill>
                  <a:schemeClr val="bg1"/>
                </a:solidFill>
              </a:rPr>
              <a:t>the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temporary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opt</a:t>
            </a:r>
            <a:r>
              <a:rPr lang="nl-NL" sz="2000" i="1" dirty="0">
                <a:solidFill>
                  <a:schemeClr val="bg1"/>
                </a:solidFill>
              </a:rPr>
              <a:t>-out </a:t>
            </a:r>
            <a:r>
              <a:rPr lang="nl-NL" sz="2000" i="1" dirty="0" err="1">
                <a:solidFill>
                  <a:schemeClr val="bg1"/>
                </a:solidFill>
              </a:rPr>
              <a:t>sensible</a:t>
            </a:r>
            <a:r>
              <a:rPr lang="nl-NL" sz="2000" i="1" dirty="0">
                <a:solidFill>
                  <a:schemeClr val="bg1"/>
                </a:solidFill>
              </a:rPr>
              <a:t> change management, or are </a:t>
            </a:r>
            <a:r>
              <a:rPr lang="nl-NL" sz="2000" i="1" dirty="0" err="1">
                <a:solidFill>
                  <a:schemeClr val="bg1"/>
                </a:solidFill>
              </a:rPr>
              <a:t>organizations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simply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postponing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the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inevitable</a:t>
            </a:r>
            <a:r>
              <a:rPr lang="nl-NL" sz="2000" i="1" dirty="0">
                <a:solidFill>
                  <a:schemeClr val="bg1"/>
                </a:solidFill>
              </a:rPr>
              <a:t>?</a:t>
            </a:r>
            <a:endParaRPr b="0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4D772F-2D3F-9318-E117-A8BF3DB4F2A6}"/>
              </a:ext>
            </a:extLst>
          </p:cNvPr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C609187F-062F-4460-E3EA-9A4CE341B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5F40805-0C2B-26B2-F561-71F6C2BF5F10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dirty="0" err="1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 ·   Microsoft EMS Community  ·  </a:t>
            </a:r>
            <a:r>
              <a:rPr lang="nl-NL" sz="950" b="0" i="0" dirty="0">
                <a:solidFill>
                  <a:srgbClr val="8B83A8"/>
                </a:solidFill>
                <a:latin typeface="Segoe UI"/>
              </a:rPr>
              <a:t>Sep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2026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BF338D6-FA73-55A1-BC72-5D6059282A27}"/>
              </a:ext>
            </a:extLst>
          </p:cNvPr>
          <p:cNvSpPr txBox="1"/>
          <p:nvPr/>
        </p:nvSpPr>
        <p:spPr>
          <a:xfrm>
            <a:off x="603504" y="896112"/>
            <a:ext cx="105156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defTabSz="914400">
              <a:defRPr/>
            </a:pPr>
            <a:r>
              <a:rPr lang="nl-NL" sz="3600" b="1" dirty="0">
                <a:solidFill>
                  <a:schemeClr val="bg1"/>
                </a:solidFill>
              </a:rPr>
              <a:t>Passkeys </a:t>
            </a:r>
            <a:r>
              <a:rPr lang="nl-NL" sz="3600" b="1" dirty="0" err="1">
                <a:solidFill>
                  <a:schemeClr val="bg1"/>
                </a:solidFill>
              </a:rPr>
              <a:t>by</a:t>
            </a:r>
            <a:r>
              <a:rPr lang="nl-NL" sz="3600" b="1" dirty="0">
                <a:solidFill>
                  <a:schemeClr val="bg1"/>
                </a:solidFill>
              </a:rPr>
              <a:t> Default &amp; SMS/Voice </a:t>
            </a:r>
            <a:r>
              <a:rPr lang="nl-NL" sz="3600" b="1" dirty="0" err="1">
                <a:solidFill>
                  <a:schemeClr val="bg1"/>
                </a:solidFill>
              </a:rPr>
              <a:t>Retirement</a:t>
            </a:r>
            <a:endParaRPr lang="nl-NL" sz="3600" b="1" dirty="0">
              <a:solidFill>
                <a:schemeClr val="bg1"/>
              </a:solidFill>
            </a:endParaRPr>
          </a:p>
          <a:p>
            <a:endParaRPr lang="nl-NL" sz="3600" dirty="0"/>
          </a:p>
        </p:txBody>
      </p:sp>
    </p:spTree>
    <p:extLst>
      <p:ext uri="{BB962C8B-B14F-4D97-AF65-F5344CB8AC3E}">
        <p14:creationId xmlns:p14="http://schemas.microsoft.com/office/powerpoint/2010/main" val="2351321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2C8BD-EC86-0611-E02D-55133240B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D9581922-56CE-AC2B-1202-B2DB088C6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D444DC-A8B9-EBD3-FB55-5E3CA62B57A0}"/>
              </a:ext>
            </a:extLst>
          </p:cNvPr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7384632-654D-4D3E-119B-2F18881D80A3}"/>
              </a:ext>
            </a:extLst>
          </p:cNvPr>
          <p:cNvSpPr/>
          <p:nvPr/>
        </p:nvSpPr>
        <p:spPr>
          <a:xfrm>
            <a:off x="479226" y="1535770"/>
            <a:ext cx="5309463" cy="2661748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215F4F-08D0-3A51-B9F3-275B620CEE43}"/>
              </a:ext>
            </a:extLst>
          </p:cNvPr>
          <p:cNvSpPr txBox="1"/>
          <p:nvPr/>
        </p:nvSpPr>
        <p:spPr>
          <a:xfrm>
            <a:off x="1146738" y="2028213"/>
            <a:ext cx="3974438" cy="12311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nl-NL" sz="2000" i="1" dirty="0">
                <a:solidFill>
                  <a:schemeClr val="bg1"/>
                </a:solidFill>
              </a:rPr>
              <a:t>Is </a:t>
            </a:r>
            <a:r>
              <a:rPr lang="nl-NL" sz="2000" i="1" dirty="0" err="1">
                <a:solidFill>
                  <a:schemeClr val="bg1"/>
                </a:solidFill>
              </a:rPr>
              <a:t>the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temporary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opt</a:t>
            </a:r>
            <a:r>
              <a:rPr lang="nl-NL" sz="2000" i="1" dirty="0">
                <a:solidFill>
                  <a:schemeClr val="bg1"/>
                </a:solidFill>
              </a:rPr>
              <a:t>-out </a:t>
            </a:r>
            <a:r>
              <a:rPr lang="nl-NL" sz="2000" i="1" dirty="0" err="1">
                <a:solidFill>
                  <a:schemeClr val="bg1"/>
                </a:solidFill>
              </a:rPr>
              <a:t>sensible</a:t>
            </a:r>
            <a:r>
              <a:rPr lang="nl-NL" sz="2000" i="1" dirty="0">
                <a:solidFill>
                  <a:schemeClr val="bg1"/>
                </a:solidFill>
              </a:rPr>
              <a:t> change management, or are </a:t>
            </a:r>
            <a:r>
              <a:rPr lang="nl-NL" sz="2000" i="1" dirty="0" err="1">
                <a:solidFill>
                  <a:schemeClr val="bg1"/>
                </a:solidFill>
              </a:rPr>
              <a:t>organizations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simply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postponing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the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inevitable</a:t>
            </a:r>
            <a:r>
              <a:rPr lang="nl-NL" sz="2000" i="1" dirty="0">
                <a:solidFill>
                  <a:schemeClr val="bg1"/>
                </a:solidFill>
              </a:rPr>
              <a:t>?</a:t>
            </a:r>
            <a:endParaRPr b="0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AAE127-FA93-A972-A581-ED73AC8E2E1D}"/>
              </a:ext>
            </a:extLst>
          </p:cNvPr>
          <p:cNvSpPr/>
          <p:nvPr/>
        </p:nvSpPr>
        <p:spPr>
          <a:xfrm>
            <a:off x="5997261" y="2771695"/>
            <a:ext cx="5985862" cy="3007285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D30150-2663-7B72-A465-E1BE8383E8F1}"/>
              </a:ext>
            </a:extLst>
          </p:cNvPr>
          <p:cNvSpPr txBox="1"/>
          <p:nvPr/>
        </p:nvSpPr>
        <p:spPr>
          <a:xfrm>
            <a:off x="7075073" y="3537725"/>
            <a:ext cx="4107373" cy="1785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fontAlgn="base"/>
            <a:r>
              <a:rPr lang="nl-NL" sz="2000" i="1" dirty="0" err="1">
                <a:solidFill>
                  <a:schemeClr val="bg1"/>
                </a:solidFill>
              </a:rPr>
              <a:t>Who</a:t>
            </a:r>
            <a:r>
              <a:rPr lang="nl-NL" sz="2000" i="1" dirty="0">
                <a:solidFill>
                  <a:schemeClr val="bg1"/>
                </a:solidFill>
              </a:rPr>
              <a:t> has </a:t>
            </a:r>
            <a:r>
              <a:rPr lang="nl-NL" sz="2000" i="1" dirty="0" err="1">
                <a:solidFill>
                  <a:schemeClr val="bg1"/>
                </a:solidFill>
              </a:rPr>
              <a:t>already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identified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the</a:t>
            </a:r>
            <a:r>
              <a:rPr lang="nl-NL" sz="2000" i="1" dirty="0">
                <a:solidFill>
                  <a:schemeClr val="bg1"/>
                </a:solidFill>
              </a:rPr>
              <a:t> users </a:t>
            </a:r>
            <a:r>
              <a:rPr lang="nl-NL" sz="2000" i="1" dirty="0" err="1">
                <a:solidFill>
                  <a:schemeClr val="bg1"/>
                </a:solidFill>
              </a:rPr>
              <a:t>still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depending</a:t>
            </a:r>
            <a:r>
              <a:rPr lang="nl-NL" sz="2000" i="1" dirty="0">
                <a:solidFill>
                  <a:schemeClr val="bg1"/>
                </a:solidFill>
              </a:rPr>
              <a:t> on SMS or </a:t>
            </a:r>
            <a:r>
              <a:rPr lang="nl-NL" sz="2000" i="1" dirty="0" err="1">
                <a:solidFill>
                  <a:schemeClr val="bg1"/>
                </a:solidFill>
              </a:rPr>
              <a:t>voice</a:t>
            </a:r>
            <a:r>
              <a:rPr lang="nl-NL" sz="2000" i="1" dirty="0">
                <a:solidFill>
                  <a:schemeClr val="bg1"/>
                </a:solidFill>
              </a:rPr>
              <a:t>, </a:t>
            </a:r>
            <a:r>
              <a:rPr lang="nl-NL" sz="2000" i="1" dirty="0" err="1">
                <a:solidFill>
                  <a:schemeClr val="bg1"/>
                </a:solidFill>
              </a:rPr>
              <a:t>and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who</a:t>
            </a:r>
            <a:r>
              <a:rPr lang="nl-NL" sz="2000" i="1" dirty="0">
                <a:solidFill>
                  <a:schemeClr val="bg1"/>
                </a:solidFill>
              </a:rPr>
              <a:t> is </a:t>
            </a:r>
            <a:r>
              <a:rPr lang="nl-NL" sz="2000" i="1" dirty="0" err="1">
                <a:solidFill>
                  <a:schemeClr val="bg1"/>
                </a:solidFill>
              </a:rPr>
              <a:t>currently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relying</a:t>
            </a:r>
            <a:r>
              <a:rPr lang="nl-NL" sz="2000" i="1" dirty="0">
                <a:solidFill>
                  <a:schemeClr val="bg1"/>
                </a:solidFill>
              </a:rPr>
              <a:t> on </a:t>
            </a:r>
            <a:r>
              <a:rPr lang="nl-NL" sz="2000" i="1" dirty="0" err="1">
                <a:solidFill>
                  <a:schemeClr val="bg1"/>
                </a:solidFill>
              </a:rPr>
              <a:t>the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temporary</a:t>
            </a:r>
            <a:r>
              <a:rPr lang="nl-NL" sz="2000" i="1" dirty="0">
                <a:solidFill>
                  <a:schemeClr val="bg1"/>
                </a:solidFill>
              </a:rPr>
              <a:t> </a:t>
            </a:r>
            <a:r>
              <a:rPr lang="nl-NL" sz="2000" i="1" dirty="0" err="1">
                <a:solidFill>
                  <a:schemeClr val="bg1"/>
                </a:solidFill>
              </a:rPr>
              <a:t>opt</a:t>
            </a:r>
            <a:r>
              <a:rPr lang="nl-NL" sz="2000" i="1" dirty="0">
                <a:solidFill>
                  <a:schemeClr val="bg1"/>
                </a:solidFill>
              </a:rPr>
              <a:t>-out?</a:t>
            </a:r>
            <a:endParaRPr lang="nl-NL" sz="2000" dirty="0">
              <a:solidFill>
                <a:schemeClr val="bg1"/>
              </a:solidFill>
            </a:endParaRPr>
          </a:p>
          <a:p>
            <a:br>
              <a:rPr lang="nl-NL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068E3E-59E8-1D91-F2F7-EF35F5918EF2}"/>
              </a:ext>
            </a:extLst>
          </p:cNvPr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3DFB793D-670D-DDE1-B870-5B4916118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B6B337F-4817-05B5-5DBC-55A849D2CA72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dirty="0" err="1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 ·   Microsoft EMS Community  ·  </a:t>
            </a:r>
            <a:r>
              <a:rPr lang="nl-NL" sz="950" b="0" i="0" dirty="0">
                <a:solidFill>
                  <a:srgbClr val="8B83A8"/>
                </a:solidFill>
                <a:latin typeface="Segoe UI"/>
              </a:rPr>
              <a:t>Sep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2026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6C150E9-7107-B16A-1085-CDECACA6490E}"/>
              </a:ext>
            </a:extLst>
          </p:cNvPr>
          <p:cNvSpPr txBox="1"/>
          <p:nvPr/>
        </p:nvSpPr>
        <p:spPr>
          <a:xfrm>
            <a:off x="603504" y="896112"/>
            <a:ext cx="105156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defTabSz="914400">
              <a:defRPr/>
            </a:pPr>
            <a:r>
              <a:rPr lang="nl-NL" sz="3600" b="1" dirty="0">
                <a:solidFill>
                  <a:schemeClr val="bg1"/>
                </a:solidFill>
              </a:rPr>
              <a:t>Passkeys </a:t>
            </a:r>
            <a:r>
              <a:rPr lang="nl-NL" sz="3600" b="1" dirty="0" err="1">
                <a:solidFill>
                  <a:schemeClr val="bg1"/>
                </a:solidFill>
              </a:rPr>
              <a:t>by</a:t>
            </a:r>
            <a:r>
              <a:rPr lang="nl-NL" sz="3600" b="1" dirty="0">
                <a:solidFill>
                  <a:schemeClr val="bg1"/>
                </a:solidFill>
              </a:rPr>
              <a:t> Default &amp; SMS/Voice </a:t>
            </a:r>
            <a:r>
              <a:rPr lang="nl-NL" sz="3600" b="1" dirty="0" err="1">
                <a:solidFill>
                  <a:schemeClr val="bg1"/>
                </a:solidFill>
              </a:rPr>
              <a:t>Retirement</a:t>
            </a:r>
            <a:endParaRPr lang="nl-NL" sz="3600" b="1" dirty="0">
              <a:solidFill>
                <a:schemeClr val="bg1"/>
              </a:solidFill>
            </a:endParaRPr>
          </a:p>
          <a:p>
            <a:endParaRPr lang="nl-NL" sz="3600" dirty="0"/>
          </a:p>
        </p:txBody>
      </p:sp>
    </p:spTree>
    <p:extLst>
      <p:ext uri="{BB962C8B-B14F-4D97-AF65-F5344CB8AC3E}">
        <p14:creationId xmlns:p14="http://schemas.microsoft.com/office/powerpoint/2010/main" val="32788618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B2D6D-AAF0-DB13-A108-5DBB91777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" descr="bg_section.png">
            <a:extLst>
              <a:ext uri="{FF2B5EF4-FFF2-40B4-BE49-F238E27FC236}">
                <a16:creationId xmlns:a16="http://schemas.microsoft.com/office/drawing/2014/main" id="{FC161C3C-6E7C-3948-DA89-03495E972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Oval 5">
            <a:extLst>
              <a:ext uri="{FF2B5EF4-FFF2-40B4-BE49-F238E27FC236}">
                <a16:creationId xmlns:a16="http://schemas.microsoft.com/office/drawing/2014/main" id="{5D50E0F9-5936-ACF9-91D2-5C96F094674D}"/>
              </a:ext>
            </a:extLst>
          </p:cNvPr>
          <p:cNvSpPr/>
          <p:nvPr/>
        </p:nvSpPr>
        <p:spPr>
          <a:xfrm>
            <a:off x="603504" y="23317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6" descr="shield.png">
            <a:extLst>
              <a:ext uri="{FF2B5EF4-FFF2-40B4-BE49-F238E27FC236}">
                <a16:creationId xmlns:a16="http://schemas.microsoft.com/office/drawing/2014/main" id="{AA55AB6F-E72F-25E7-59AB-B1A1AA30E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68879"/>
            <a:ext cx="274320" cy="274320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E49CC6BE-BA65-E519-E7F4-AF2858B6727F}"/>
              </a:ext>
            </a:extLst>
          </p:cNvPr>
          <p:cNvSpPr txBox="1"/>
          <p:nvPr/>
        </p:nvSpPr>
        <p:spPr>
          <a:xfrm>
            <a:off x="1353312" y="2276856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550" b="1" i="0" dirty="0">
                <a:solidFill>
                  <a:srgbClr val="F5F2FC"/>
                </a:solidFill>
                <a:latin typeface="Segoe UI"/>
              </a:rPr>
              <a:t>The Feature</a:t>
            </a:r>
            <a:endParaRPr sz="1550" b="1" i="0" dirty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2CFE0F0C-E037-1B4C-7CED-21CD5158EB16}"/>
              </a:ext>
            </a:extLst>
          </p:cNvPr>
          <p:cNvSpPr txBox="1"/>
          <p:nvPr/>
        </p:nvSpPr>
        <p:spPr>
          <a:xfrm>
            <a:off x="1353312" y="2624327"/>
            <a:ext cx="64465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fontAlgn="base"/>
            <a:r>
              <a:rPr lang="nl-NL" sz="1400" dirty="0">
                <a:solidFill>
                  <a:schemeClr val="bg1"/>
                </a:solidFill>
              </a:rPr>
              <a:t>Cloud Sync </a:t>
            </a:r>
            <a:r>
              <a:rPr lang="nl-NL" sz="1400" dirty="0" err="1">
                <a:solidFill>
                  <a:schemeClr val="bg1"/>
                </a:solidFill>
              </a:rPr>
              <a:t>can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provision</a:t>
            </a:r>
            <a:r>
              <a:rPr lang="nl-NL" sz="1400" dirty="0">
                <a:solidFill>
                  <a:schemeClr val="bg1"/>
                </a:solidFill>
              </a:rPr>
              <a:t> users, security </a:t>
            </a:r>
            <a:r>
              <a:rPr lang="nl-NL" sz="1400" dirty="0" err="1">
                <a:solidFill>
                  <a:schemeClr val="bg1"/>
                </a:solidFill>
              </a:rPr>
              <a:t>groups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and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group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memberships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from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Entra</a:t>
            </a:r>
            <a:r>
              <a:rPr lang="nl-NL" sz="1400" dirty="0">
                <a:solidFill>
                  <a:schemeClr val="bg1"/>
                </a:solidFill>
              </a:rPr>
              <a:t> ID </a:t>
            </a:r>
            <a:r>
              <a:rPr lang="nl-NL" sz="1400" dirty="0" err="1">
                <a:solidFill>
                  <a:schemeClr val="bg1"/>
                </a:solidFill>
              </a:rPr>
              <a:t>into</a:t>
            </a:r>
            <a:r>
              <a:rPr lang="nl-NL" sz="1400" dirty="0">
                <a:solidFill>
                  <a:schemeClr val="bg1"/>
                </a:solidFill>
              </a:rPr>
              <a:t> on-</a:t>
            </a:r>
            <a:r>
              <a:rPr lang="nl-NL" sz="1400" dirty="0" err="1">
                <a:solidFill>
                  <a:schemeClr val="bg1"/>
                </a:solidFill>
              </a:rPr>
              <a:t>premises</a:t>
            </a:r>
            <a:r>
              <a:rPr lang="nl-NL" sz="1400" dirty="0">
                <a:solidFill>
                  <a:schemeClr val="bg1"/>
                </a:solidFill>
              </a:rPr>
              <a:t> AD DS.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B7F58E9F-034E-6851-CD7C-08FF59292645}"/>
              </a:ext>
            </a:extLst>
          </p:cNvPr>
          <p:cNvSpPr/>
          <p:nvPr/>
        </p:nvSpPr>
        <p:spPr>
          <a:xfrm>
            <a:off x="603504" y="3264408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10" descr="bolt.png">
            <a:extLst>
              <a:ext uri="{FF2B5EF4-FFF2-40B4-BE49-F238E27FC236}">
                <a16:creationId xmlns:a16="http://schemas.microsoft.com/office/drawing/2014/main" id="{03316929-4B68-4115-5D77-F3E02186AD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401568"/>
            <a:ext cx="274320" cy="274320"/>
          </a:xfrm>
          <a:prstGeom prst="rect">
            <a:avLst/>
          </a:prstGeom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342C762D-E6EC-E3F8-C6F4-9CE0E31E2770}"/>
              </a:ext>
            </a:extLst>
          </p:cNvPr>
          <p:cNvSpPr txBox="1"/>
          <p:nvPr/>
        </p:nvSpPr>
        <p:spPr>
          <a:xfrm>
            <a:off x="1353312" y="3209544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550" b="1" dirty="0">
                <a:solidFill>
                  <a:srgbClr val="F5F2FC"/>
                </a:solidFill>
                <a:latin typeface="Segoe UI"/>
              </a:rPr>
              <a:t>Context</a:t>
            </a:r>
            <a:endParaRPr sz="1550" b="1" i="0" dirty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DAC15E5A-2AC6-6182-02FB-2E74B9548BD2}"/>
              </a:ext>
            </a:extLst>
          </p:cNvPr>
          <p:cNvSpPr txBox="1"/>
          <p:nvPr/>
        </p:nvSpPr>
        <p:spPr>
          <a:xfrm>
            <a:off x="1353312" y="3557015"/>
            <a:ext cx="1023518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fontAlgn="base"/>
            <a:r>
              <a:rPr lang="nl-NL" sz="1400" dirty="0">
                <a:solidFill>
                  <a:schemeClr val="bg1"/>
                </a:solidFill>
              </a:rPr>
              <a:t>Cloud Sync </a:t>
            </a:r>
            <a:r>
              <a:rPr lang="nl-NL" sz="1400" dirty="0" err="1">
                <a:solidFill>
                  <a:schemeClr val="bg1"/>
                </a:solidFill>
              </a:rPr>
              <a:t>can</a:t>
            </a:r>
            <a:r>
              <a:rPr lang="nl-NL" sz="1400" dirty="0">
                <a:solidFill>
                  <a:schemeClr val="bg1"/>
                </a:solidFill>
              </a:rPr>
              <a:t> run </a:t>
            </a:r>
            <a:r>
              <a:rPr lang="nl-NL" sz="1400" dirty="0" err="1">
                <a:solidFill>
                  <a:schemeClr val="bg1"/>
                </a:solidFill>
              </a:rPr>
              <a:t>alongside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Entra</a:t>
            </a:r>
            <a:r>
              <a:rPr lang="nl-NL" sz="1400" dirty="0">
                <a:solidFill>
                  <a:schemeClr val="bg1"/>
                </a:solidFill>
              </a:rPr>
              <a:t> Connect Sync. It does </a:t>
            </a:r>
            <a:r>
              <a:rPr lang="nl-NL" sz="1400" dirty="0" err="1">
                <a:solidFill>
                  <a:schemeClr val="bg1"/>
                </a:solidFill>
              </a:rPr>
              <a:t>not</a:t>
            </a:r>
            <a:r>
              <a:rPr lang="nl-NL" sz="1400" dirty="0">
                <a:solidFill>
                  <a:schemeClr val="bg1"/>
                </a:solidFill>
              </a:rPr>
              <a:t> have </a:t>
            </a:r>
            <a:r>
              <a:rPr lang="nl-NL" sz="1400" dirty="0" err="1">
                <a:solidFill>
                  <a:schemeClr val="bg1"/>
                </a:solidFill>
              </a:rPr>
              <a:t>to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be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an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immediate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all</a:t>
            </a:r>
            <a:r>
              <a:rPr lang="nl-NL" sz="1400" dirty="0">
                <a:solidFill>
                  <a:schemeClr val="bg1"/>
                </a:solidFill>
              </a:rPr>
              <a:t>-or-</a:t>
            </a:r>
            <a:r>
              <a:rPr lang="nl-NL" sz="1400" dirty="0" err="1">
                <a:solidFill>
                  <a:schemeClr val="bg1"/>
                </a:solidFill>
              </a:rPr>
              <a:t>nothing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replacement</a:t>
            </a:r>
            <a:r>
              <a:rPr lang="nl-NL" sz="1400" dirty="0">
                <a:solidFill>
                  <a:schemeClr val="bg1"/>
                </a:solidFill>
              </a:rPr>
              <a:t>.</a:t>
            </a:r>
          </a:p>
          <a:p>
            <a:pPr lvl="0" fontAlgn="base"/>
            <a:endParaRPr lang="nl-NL" sz="1400" dirty="0">
              <a:solidFill>
                <a:schemeClr val="bg1"/>
              </a:solidFill>
            </a:endParaRP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DDBC69AF-97C3-1D29-FCFA-C04BF13B31A8}"/>
              </a:ext>
            </a:extLst>
          </p:cNvPr>
          <p:cNvSpPr/>
          <p:nvPr/>
        </p:nvSpPr>
        <p:spPr>
          <a:xfrm>
            <a:off x="603504" y="4197096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4" descr="warning.png">
            <a:extLst>
              <a:ext uri="{FF2B5EF4-FFF2-40B4-BE49-F238E27FC236}">
                <a16:creationId xmlns:a16="http://schemas.microsoft.com/office/drawing/2014/main" id="{CFA0293C-5B54-211D-48BE-88751D672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334256"/>
            <a:ext cx="274320" cy="274320"/>
          </a:xfrm>
          <a:prstGeom prst="rect">
            <a:avLst/>
          </a:prstGeom>
        </p:spPr>
      </p:pic>
      <p:sp>
        <p:nvSpPr>
          <p:cNvPr id="12" name="TextBox 15">
            <a:extLst>
              <a:ext uri="{FF2B5EF4-FFF2-40B4-BE49-F238E27FC236}">
                <a16:creationId xmlns:a16="http://schemas.microsoft.com/office/drawing/2014/main" id="{61F1BA05-569C-A140-10F0-C5C9D72A91B1}"/>
              </a:ext>
            </a:extLst>
          </p:cNvPr>
          <p:cNvSpPr txBox="1"/>
          <p:nvPr/>
        </p:nvSpPr>
        <p:spPr>
          <a:xfrm>
            <a:off x="1353312" y="4142232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550" b="1" i="0" dirty="0" err="1">
                <a:solidFill>
                  <a:srgbClr val="F5F2FC"/>
                </a:solidFill>
                <a:latin typeface="Segoe UI"/>
              </a:rPr>
              <a:t>Nested</a:t>
            </a:r>
            <a:r>
              <a:rPr lang="nl-NL" sz="1550" b="1" i="0" dirty="0">
                <a:solidFill>
                  <a:srgbClr val="F5F2FC"/>
                </a:solidFill>
                <a:latin typeface="Segoe UI"/>
              </a:rPr>
              <a:t> Group </a:t>
            </a:r>
            <a:r>
              <a:rPr lang="nl-NL" sz="1550" b="1" i="0" dirty="0" err="1">
                <a:solidFill>
                  <a:srgbClr val="F5F2FC"/>
                </a:solidFill>
                <a:latin typeface="Segoe UI"/>
              </a:rPr>
              <a:t>Pitfall</a:t>
            </a:r>
            <a:endParaRPr sz="1550" b="1" i="0" dirty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394E4C71-19B8-C66F-53FA-0C61759F3043}"/>
              </a:ext>
            </a:extLst>
          </p:cNvPr>
          <p:cNvSpPr txBox="1"/>
          <p:nvPr/>
        </p:nvSpPr>
        <p:spPr>
          <a:xfrm>
            <a:off x="1353311" y="4489704"/>
            <a:ext cx="965101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fontAlgn="base"/>
            <a:r>
              <a:rPr lang="nl-NL" sz="1400" dirty="0" err="1">
                <a:solidFill>
                  <a:schemeClr val="bg1"/>
                </a:solidFill>
              </a:rPr>
              <a:t>When</a:t>
            </a:r>
            <a:r>
              <a:rPr lang="nl-NL" sz="1400" dirty="0">
                <a:solidFill>
                  <a:schemeClr val="bg1"/>
                </a:solidFill>
              </a:rPr>
              <a:t> a </a:t>
            </a:r>
            <a:r>
              <a:rPr lang="nl-NL" sz="1400" dirty="0" err="1">
                <a:solidFill>
                  <a:schemeClr val="bg1"/>
                </a:solidFill>
              </a:rPr>
              <a:t>selected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group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contains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another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group</a:t>
            </a:r>
            <a:r>
              <a:rPr lang="nl-NL" sz="1400" dirty="0">
                <a:solidFill>
                  <a:schemeClr val="bg1"/>
                </a:solidFill>
              </a:rPr>
              <a:t>, </a:t>
            </a:r>
            <a:r>
              <a:rPr lang="nl-NL" sz="1400" dirty="0" err="1">
                <a:solidFill>
                  <a:schemeClr val="bg1"/>
                </a:solidFill>
              </a:rPr>
              <a:t>the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nested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group</a:t>
            </a:r>
            <a:r>
              <a:rPr lang="nl-NL" sz="1400" dirty="0">
                <a:solidFill>
                  <a:schemeClr val="bg1"/>
                </a:solidFill>
              </a:rPr>
              <a:t> object is </a:t>
            </a:r>
            <a:r>
              <a:rPr lang="nl-NL" sz="1400" dirty="0" err="1">
                <a:solidFill>
                  <a:schemeClr val="bg1"/>
                </a:solidFill>
              </a:rPr>
              <a:t>written</a:t>
            </a:r>
            <a:r>
              <a:rPr lang="nl-NL" sz="1400" dirty="0">
                <a:solidFill>
                  <a:schemeClr val="bg1"/>
                </a:solidFill>
              </a:rPr>
              <a:t> back, but </a:t>
            </a:r>
            <a:r>
              <a:rPr lang="nl-NL" sz="1400" dirty="0" err="1">
                <a:solidFill>
                  <a:schemeClr val="bg1"/>
                </a:solidFill>
              </a:rPr>
              <a:t>its</a:t>
            </a:r>
            <a:r>
              <a:rPr lang="nl-NL" sz="1400" dirty="0">
                <a:solidFill>
                  <a:schemeClr val="bg1"/>
                </a:solidFill>
              </a:rPr>
              <a:t> members are </a:t>
            </a:r>
            <a:r>
              <a:rPr lang="nl-NL" sz="1400" dirty="0" err="1">
                <a:solidFill>
                  <a:schemeClr val="bg1"/>
                </a:solidFill>
              </a:rPr>
              <a:t>not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automatically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included</a:t>
            </a:r>
            <a:r>
              <a:rPr lang="nl-NL" sz="1400" dirty="0">
                <a:solidFill>
                  <a:schemeClr val="bg1"/>
                </a:solidFill>
              </a:rPr>
              <a:t>. The relevant member </a:t>
            </a:r>
            <a:r>
              <a:rPr lang="nl-NL" sz="1400" dirty="0" err="1">
                <a:solidFill>
                  <a:schemeClr val="bg1"/>
                </a:solidFill>
              </a:rPr>
              <a:t>groups</a:t>
            </a:r>
            <a:r>
              <a:rPr lang="nl-NL" sz="1400" dirty="0">
                <a:solidFill>
                  <a:schemeClr val="bg1"/>
                </a:solidFill>
              </a:rPr>
              <a:t> must </a:t>
            </a:r>
            <a:r>
              <a:rPr lang="nl-NL" sz="1400" dirty="0" err="1">
                <a:solidFill>
                  <a:schemeClr val="bg1"/>
                </a:solidFill>
              </a:rPr>
              <a:t>also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be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placed</a:t>
            </a:r>
            <a:r>
              <a:rPr lang="nl-NL" sz="1400" dirty="0">
                <a:solidFill>
                  <a:schemeClr val="bg1"/>
                </a:solidFill>
              </a:rPr>
              <a:t> in scope.</a:t>
            </a: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262D67BB-C713-67A8-E360-8BB9D8CCFDE2}"/>
              </a:ext>
            </a:extLst>
          </p:cNvPr>
          <p:cNvSpPr/>
          <p:nvPr/>
        </p:nvSpPr>
        <p:spPr>
          <a:xfrm>
            <a:off x="603504" y="5129783"/>
            <a:ext cx="548640" cy="54864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2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8" descr="key.png">
            <a:extLst>
              <a:ext uri="{FF2B5EF4-FFF2-40B4-BE49-F238E27FC236}">
                <a16:creationId xmlns:a16="http://schemas.microsoft.com/office/drawing/2014/main" id="{BC20E960-B780-64E8-6E26-13A1B1D6ED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266944"/>
            <a:ext cx="274320" cy="274320"/>
          </a:xfrm>
          <a:prstGeom prst="rect">
            <a:avLst/>
          </a:prstGeom>
        </p:spPr>
      </p:pic>
      <p:sp>
        <p:nvSpPr>
          <p:cNvPr id="16" name="TextBox 19">
            <a:extLst>
              <a:ext uri="{FF2B5EF4-FFF2-40B4-BE49-F238E27FC236}">
                <a16:creationId xmlns:a16="http://schemas.microsoft.com/office/drawing/2014/main" id="{09F585C1-E486-6FC0-0981-E068087B27AE}"/>
              </a:ext>
            </a:extLst>
          </p:cNvPr>
          <p:cNvSpPr txBox="1"/>
          <p:nvPr/>
        </p:nvSpPr>
        <p:spPr>
          <a:xfrm>
            <a:off x="1353312" y="5074920"/>
            <a:ext cx="64008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1550" b="1" dirty="0">
                <a:solidFill>
                  <a:srgbClr val="F5F2FC"/>
                </a:solidFill>
                <a:latin typeface="Segoe UI"/>
              </a:rPr>
              <a:t>Important</a:t>
            </a:r>
            <a:r>
              <a:rPr lang="nl-NL" sz="1550" b="1" i="0" dirty="0">
                <a:solidFill>
                  <a:srgbClr val="F5F2FC"/>
                </a:solidFill>
                <a:latin typeface="Segoe UI"/>
              </a:rPr>
              <a:t> nuance</a:t>
            </a:r>
            <a:endParaRPr sz="1550" b="1" i="0" dirty="0">
              <a:solidFill>
                <a:srgbClr val="F5F2FC"/>
              </a:solidFill>
              <a:latin typeface="Segoe UI"/>
            </a:endParaRP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A774866C-E404-08C9-D29A-884387264695}"/>
              </a:ext>
            </a:extLst>
          </p:cNvPr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TOPIC 1  ·  ROUND-TABLE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69F31506-840A-1DCA-EB30-40B4F98156E8}"/>
              </a:ext>
            </a:extLst>
          </p:cNvPr>
          <p:cNvSpPr txBox="1"/>
          <p:nvPr/>
        </p:nvSpPr>
        <p:spPr>
          <a:xfrm>
            <a:off x="603504" y="896112"/>
            <a:ext cx="105156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defTabSz="914400">
              <a:defRPr/>
            </a:pPr>
            <a:r>
              <a:rPr lang="nl-NL" sz="3600" b="1" dirty="0" err="1">
                <a:solidFill>
                  <a:schemeClr val="bg1"/>
                </a:solidFill>
              </a:rPr>
              <a:t>Entra</a:t>
            </a:r>
            <a:r>
              <a:rPr lang="nl-NL" sz="3600" b="1" dirty="0">
                <a:solidFill>
                  <a:schemeClr val="bg1"/>
                </a:solidFill>
              </a:rPr>
              <a:t> Cloud Sync, Cloud-</a:t>
            </a:r>
            <a:r>
              <a:rPr lang="nl-NL" sz="3600" b="1" dirty="0" err="1">
                <a:solidFill>
                  <a:schemeClr val="bg1"/>
                </a:solidFill>
              </a:rPr>
              <a:t>to</a:t>
            </a:r>
            <a:r>
              <a:rPr lang="nl-NL" sz="3600" b="1" dirty="0">
                <a:solidFill>
                  <a:schemeClr val="bg1"/>
                </a:solidFill>
              </a:rPr>
              <a:t>-AD </a:t>
            </a:r>
            <a:r>
              <a:rPr lang="nl-NL" sz="3600" b="1" dirty="0" err="1">
                <a:solidFill>
                  <a:schemeClr val="bg1"/>
                </a:solidFill>
              </a:rPr>
              <a:t>Provisioning</a:t>
            </a:r>
            <a:endParaRPr lang="nl-NL" sz="3600" b="1" dirty="0">
              <a:solidFill>
                <a:schemeClr val="bg1"/>
              </a:solidFill>
            </a:endParaRPr>
          </a:p>
          <a:p>
            <a:endParaRPr lang="nl-NL" sz="3600" dirty="0"/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A08DECA6-8238-A09A-29D5-9CE03E9406A7}"/>
              </a:ext>
            </a:extLst>
          </p:cNvPr>
          <p:cNvSpPr txBox="1"/>
          <p:nvPr/>
        </p:nvSpPr>
        <p:spPr>
          <a:xfrm>
            <a:off x="1353311" y="5325366"/>
            <a:ext cx="9651019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fontAlgn="base"/>
            <a:r>
              <a:rPr lang="nl-NL" sz="1400" dirty="0">
                <a:solidFill>
                  <a:schemeClr val="bg1"/>
                </a:solidFill>
              </a:rPr>
              <a:t>Group </a:t>
            </a:r>
            <a:r>
              <a:rPr lang="nl-NL" sz="1400" dirty="0" err="1">
                <a:solidFill>
                  <a:schemeClr val="bg1"/>
                </a:solidFill>
              </a:rPr>
              <a:t>provisioning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and</a:t>
            </a:r>
            <a:r>
              <a:rPr lang="nl-NL" sz="1400" dirty="0">
                <a:solidFill>
                  <a:schemeClr val="bg1"/>
                </a:solidFill>
              </a:rPr>
              <a:t> user </a:t>
            </a:r>
            <a:r>
              <a:rPr lang="nl-NL" sz="1400" dirty="0" err="1">
                <a:solidFill>
                  <a:schemeClr val="bg1"/>
                </a:solidFill>
              </a:rPr>
              <a:t>provisioning</a:t>
            </a:r>
            <a:r>
              <a:rPr lang="nl-NL" sz="1400" dirty="0">
                <a:solidFill>
                  <a:schemeClr val="bg1"/>
                </a:solidFill>
              </a:rPr>
              <a:t> do </a:t>
            </a:r>
            <a:r>
              <a:rPr lang="nl-NL" sz="1400" dirty="0" err="1">
                <a:solidFill>
                  <a:schemeClr val="bg1"/>
                </a:solidFill>
              </a:rPr>
              <a:t>not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currently</a:t>
            </a:r>
            <a:r>
              <a:rPr lang="nl-NL" sz="1400" dirty="0">
                <a:solidFill>
                  <a:schemeClr val="bg1"/>
                </a:solidFill>
              </a:rPr>
              <a:t> have </a:t>
            </a:r>
            <a:r>
              <a:rPr lang="nl-NL" sz="1400" dirty="0" err="1">
                <a:solidFill>
                  <a:schemeClr val="bg1"/>
                </a:solidFill>
              </a:rPr>
              <a:t>the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same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maturity</a:t>
            </a:r>
            <a:r>
              <a:rPr lang="nl-NL" sz="1400" dirty="0">
                <a:solidFill>
                  <a:schemeClr val="bg1"/>
                </a:solidFill>
              </a:rPr>
              <a:t> level. Group </a:t>
            </a:r>
            <a:r>
              <a:rPr lang="nl-NL" sz="1400" dirty="0" err="1">
                <a:solidFill>
                  <a:schemeClr val="bg1"/>
                </a:solidFill>
              </a:rPr>
              <a:t>provisioning</a:t>
            </a:r>
            <a:r>
              <a:rPr lang="nl-NL" sz="1400" dirty="0">
                <a:solidFill>
                  <a:schemeClr val="bg1"/>
                </a:solidFill>
              </a:rPr>
              <a:t> is </a:t>
            </a:r>
            <a:r>
              <a:rPr lang="nl-NL" sz="1400" dirty="0" err="1">
                <a:solidFill>
                  <a:schemeClr val="bg1"/>
                </a:solidFill>
              </a:rPr>
              <a:t>generally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available</a:t>
            </a:r>
            <a:r>
              <a:rPr lang="nl-NL" sz="1400" dirty="0">
                <a:solidFill>
                  <a:schemeClr val="bg1"/>
                </a:solidFill>
              </a:rPr>
              <a:t>, </a:t>
            </a:r>
            <a:r>
              <a:rPr lang="nl-NL" sz="1400" dirty="0" err="1">
                <a:solidFill>
                  <a:schemeClr val="bg1"/>
                </a:solidFill>
              </a:rPr>
              <a:t>while</a:t>
            </a:r>
            <a:r>
              <a:rPr lang="nl-NL" sz="1400" dirty="0">
                <a:solidFill>
                  <a:schemeClr val="bg1"/>
                </a:solidFill>
              </a:rPr>
              <a:t> user </a:t>
            </a:r>
            <a:r>
              <a:rPr lang="nl-NL" sz="1400" dirty="0" err="1">
                <a:solidFill>
                  <a:schemeClr val="bg1"/>
                </a:solidFill>
              </a:rPr>
              <a:t>provisioning</a:t>
            </a:r>
            <a:r>
              <a:rPr lang="nl-NL" sz="1400" dirty="0">
                <a:solidFill>
                  <a:schemeClr val="bg1"/>
                </a:solidFill>
              </a:rPr>
              <a:t> is </a:t>
            </a:r>
            <a:r>
              <a:rPr lang="nl-NL" sz="1400" dirty="0" err="1">
                <a:solidFill>
                  <a:schemeClr val="bg1"/>
                </a:solidFill>
              </a:rPr>
              <a:t>still</a:t>
            </a:r>
            <a:r>
              <a:rPr lang="nl-NL" sz="1400" dirty="0">
                <a:solidFill>
                  <a:schemeClr val="bg1"/>
                </a:solidFill>
              </a:rPr>
              <a:t> in preview.</a:t>
            </a:r>
          </a:p>
          <a:p>
            <a:pPr lvl="0" fontAlgn="base"/>
            <a:endParaRPr lang="nl-NL" sz="1400" dirty="0">
              <a:solidFill>
                <a:schemeClr val="bg1"/>
              </a:solidFill>
            </a:endParaRPr>
          </a:p>
          <a:p>
            <a:pPr fontAlgn="base"/>
            <a:r>
              <a:rPr lang="nl-NL" sz="1400" dirty="0" err="1">
                <a:solidFill>
                  <a:schemeClr val="bg1"/>
                </a:solidFill>
              </a:rPr>
              <a:t>When</a:t>
            </a:r>
            <a:r>
              <a:rPr lang="nl-NL" sz="1400" dirty="0">
                <a:solidFill>
                  <a:schemeClr val="bg1"/>
                </a:solidFill>
              </a:rPr>
              <a:t> a </a:t>
            </a:r>
            <a:r>
              <a:rPr lang="nl-NL" sz="1400" dirty="0" err="1">
                <a:solidFill>
                  <a:schemeClr val="bg1"/>
                </a:solidFill>
              </a:rPr>
              <a:t>selected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group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contains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another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group</a:t>
            </a:r>
            <a:r>
              <a:rPr lang="nl-NL" sz="1400" dirty="0">
                <a:solidFill>
                  <a:schemeClr val="bg1"/>
                </a:solidFill>
              </a:rPr>
              <a:t>, </a:t>
            </a:r>
            <a:r>
              <a:rPr lang="nl-NL" sz="1400" dirty="0" err="1">
                <a:solidFill>
                  <a:schemeClr val="bg1"/>
                </a:solidFill>
              </a:rPr>
              <a:t>the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nested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group</a:t>
            </a:r>
            <a:r>
              <a:rPr lang="nl-NL" sz="1400" dirty="0">
                <a:solidFill>
                  <a:schemeClr val="bg1"/>
                </a:solidFill>
              </a:rPr>
              <a:t> object is </a:t>
            </a:r>
            <a:r>
              <a:rPr lang="nl-NL" sz="1400" dirty="0" err="1">
                <a:solidFill>
                  <a:schemeClr val="bg1"/>
                </a:solidFill>
              </a:rPr>
              <a:t>written</a:t>
            </a:r>
            <a:r>
              <a:rPr lang="nl-NL" sz="1400" dirty="0">
                <a:solidFill>
                  <a:schemeClr val="bg1"/>
                </a:solidFill>
              </a:rPr>
              <a:t> back, but </a:t>
            </a:r>
            <a:r>
              <a:rPr lang="nl-NL" sz="1400" dirty="0" err="1">
                <a:solidFill>
                  <a:schemeClr val="bg1"/>
                </a:solidFill>
              </a:rPr>
              <a:t>its</a:t>
            </a:r>
            <a:r>
              <a:rPr lang="nl-NL" sz="1400" dirty="0">
                <a:solidFill>
                  <a:schemeClr val="bg1"/>
                </a:solidFill>
              </a:rPr>
              <a:t> members are </a:t>
            </a:r>
            <a:r>
              <a:rPr lang="nl-NL" sz="1400" dirty="0" err="1">
                <a:solidFill>
                  <a:schemeClr val="bg1"/>
                </a:solidFill>
              </a:rPr>
              <a:t>not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automatically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included</a:t>
            </a:r>
            <a:r>
              <a:rPr lang="nl-NL" sz="1400" dirty="0">
                <a:solidFill>
                  <a:schemeClr val="bg1"/>
                </a:solidFill>
              </a:rPr>
              <a:t>. The relevant member </a:t>
            </a:r>
            <a:r>
              <a:rPr lang="nl-NL" sz="1400" dirty="0" err="1">
                <a:solidFill>
                  <a:schemeClr val="bg1"/>
                </a:solidFill>
              </a:rPr>
              <a:t>groups</a:t>
            </a:r>
            <a:r>
              <a:rPr lang="nl-NL" sz="1400" dirty="0">
                <a:solidFill>
                  <a:schemeClr val="bg1"/>
                </a:solidFill>
              </a:rPr>
              <a:t> must </a:t>
            </a:r>
            <a:r>
              <a:rPr lang="nl-NL" sz="1400" dirty="0" err="1">
                <a:solidFill>
                  <a:schemeClr val="bg1"/>
                </a:solidFill>
              </a:rPr>
              <a:t>also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be</a:t>
            </a:r>
            <a:r>
              <a:rPr lang="nl-NL" sz="1400" dirty="0">
                <a:solidFill>
                  <a:schemeClr val="bg1"/>
                </a:solidFill>
              </a:rPr>
              <a:t> </a:t>
            </a:r>
            <a:r>
              <a:rPr lang="nl-NL" sz="1400" dirty="0" err="1">
                <a:solidFill>
                  <a:schemeClr val="bg1"/>
                </a:solidFill>
              </a:rPr>
              <a:t>placed</a:t>
            </a:r>
            <a:r>
              <a:rPr lang="nl-NL" sz="1400" dirty="0">
                <a:solidFill>
                  <a:schemeClr val="bg1"/>
                </a:solidFill>
              </a:rPr>
              <a:t> in scope.</a:t>
            </a:r>
          </a:p>
          <a:p>
            <a:pPr lvl="0" fontAlgn="base"/>
            <a:endParaRPr lang="nl-NL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66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7BA31-02C4-7743-5024-BBBAEBD6A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3EFAD766-378C-D981-3D08-20FC836D5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306577-EA31-F0E0-EE63-E345F367F51A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 dirty="0">
                <a:solidFill>
                  <a:srgbClr val="FF2E88"/>
                </a:solidFill>
                <a:latin typeface="Consolas"/>
              </a:rPr>
              <a:t>TOPIC </a:t>
            </a:r>
            <a:r>
              <a:rPr lang="nl-NL" sz="1250" b="1" i="0" spc="260" dirty="0">
                <a:solidFill>
                  <a:srgbClr val="FF2E88"/>
                </a:solidFill>
                <a:latin typeface="Consolas"/>
              </a:rPr>
              <a:t>2</a:t>
            </a:r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·  ROUND-TABLE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40F332-C783-9AD3-5A49-D311098969C6}"/>
              </a:ext>
            </a:extLst>
          </p:cNvPr>
          <p:cNvSpPr/>
          <p:nvPr/>
        </p:nvSpPr>
        <p:spPr>
          <a:xfrm>
            <a:off x="479226" y="1535770"/>
            <a:ext cx="5309463" cy="2661748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6A0226-FFA8-AF9A-EBEC-C1DB00FDC992}"/>
              </a:ext>
            </a:extLst>
          </p:cNvPr>
          <p:cNvSpPr txBox="1"/>
          <p:nvPr/>
        </p:nvSpPr>
        <p:spPr>
          <a:xfrm>
            <a:off x="1146738" y="1905103"/>
            <a:ext cx="3974438" cy="1477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nl-NL" sz="2400" i="1" dirty="0">
                <a:solidFill>
                  <a:schemeClr val="bg1"/>
                </a:solidFill>
              </a:rPr>
              <a:t>Does reverse </a:t>
            </a:r>
            <a:r>
              <a:rPr lang="nl-NL" sz="2400" i="1" dirty="0" err="1">
                <a:solidFill>
                  <a:schemeClr val="bg1"/>
                </a:solidFill>
              </a:rPr>
              <a:t>provisioning</a:t>
            </a:r>
            <a:r>
              <a:rPr lang="nl-NL" sz="2400" i="1" dirty="0">
                <a:solidFill>
                  <a:schemeClr val="bg1"/>
                </a:solidFill>
              </a:rPr>
              <a:t> help </a:t>
            </a:r>
            <a:r>
              <a:rPr lang="nl-NL" sz="2400" i="1" dirty="0" err="1">
                <a:solidFill>
                  <a:schemeClr val="bg1"/>
                </a:solidFill>
              </a:rPr>
              <a:t>organizations</a:t>
            </a:r>
            <a:r>
              <a:rPr lang="nl-NL" sz="2400" i="1" dirty="0">
                <a:solidFill>
                  <a:schemeClr val="bg1"/>
                </a:solidFill>
              </a:rPr>
              <a:t> </a:t>
            </a:r>
            <a:r>
              <a:rPr lang="nl-NL" sz="2400" i="1" dirty="0" err="1">
                <a:solidFill>
                  <a:schemeClr val="bg1"/>
                </a:solidFill>
              </a:rPr>
              <a:t>leave</a:t>
            </a:r>
            <a:r>
              <a:rPr lang="nl-NL" sz="2400" i="1" dirty="0">
                <a:solidFill>
                  <a:schemeClr val="bg1"/>
                </a:solidFill>
              </a:rPr>
              <a:t> AD </a:t>
            </a:r>
            <a:r>
              <a:rPr lang="nl-NL" sz="2400" i="1" dirty="0" err="1">
                <a:solidFill>
                  <a:schemeClr val="bg1"/>
                </a:solidFill>
              </a:rPr>
              <a:t>behind</a:t>
            </a:r>
            <a:r>
              <a:rPr lang="nl-NL" sz="2400" i="1" dirty="0">
                <a:solidFill>
                  <a:schemeClr val="bg1"/>
                </a:solidFill>
              </a:rPr>
              <a:t>, or does </a:t>
            </a:r>
            <a:r>
              <a:rPr lang="nl-NL" sz="2400" i="1" dirty="0" err="1">
                <a:solidFill>
                  <a:schemeClr val="bg1"/>
                </a:solidFill>
              </a:rPr>
              <a:t>it</a:t>
            </a:r>
            <a:r>
              <a:rPr lang="nl-NL" sz="2400" i="1" dirty="0">
                <a:solidFill>
                  <a:schemeClr val="bg1"/>
                </a:solidFill>
              </a:rPr>
              <a:t> make </a:t>
            </a:r>
            <a:r>
              <a:rPr lang="nl-NL" sz="2400" i="1" dirty="0" err="1">
                <a:solidFill>
                  <a:schemeClr val="bg1"/>
                </a:solidFill>
              </a:rPr>
              <a:t>keeping</a:t>
            </a:r>
            <a:r>
              <a:rPr lang="nl-NL" sz="2400" i="1" dirty="0">
                <a:solidFill>
                  <a:schemeClr val="bg1"/>
                </a:solidFill>
              </a:rPr>
              <a:t> AD </a:t>
            </a:r>
            <a:r>
              <a:rPr lang="nl-NL" sz="2400" i="1" dirty="0" err="1">
                <a:solidFill>
                  <a:schemeClr val="bg1"/>
                </a:solidFill>
              </a:rPr>
              <a:t>easier</a:t>
            </a:r>
            <a:r>
              <a:rPr lang="nl-NL" sz="2400" i="1" dirty="0">
                <a:solidFill>
                  <a:schemeClr val="bg1"/>
                </a:solidFill>
              </a:rPr>
              <a:t>?</a:t>
            </a:r>
            <a:endParaRPr sz="2400" b="0" i="1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227F45-81B5-5BBB-D6F5-08A55397C9E7}"/>
              </a:ext>
            </a:extLst>
          </p:cNvPr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CE34A6F9-A9CB-2A95-2F95-D9026982A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8D4E2B8-A23B-3A6C-D8C0-12E1AEFE7084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dirty="0" err="1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 ·   Microsoft EMS Community  ·  </a:t>
            </a:r>
            <a:r>
              <a:rPr lang="nl-NL" sz="950" b="0" i="0" dirty="0">
                <a:solidFill>
                  <a:srgbClr val="8B83A8"/>
                </a:solidFill>
                <a:latin typeface="Segoe UI"/>
              </a:rPr>
              <a:t>Sep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24DB9-C43E-A360-1030-CF02318A2FD3}"/>
              </a:ext>
            </a:extLst>
          </p:cNvPr>
          <p:cNvSpPr txBox="1"/>
          <p:nvPr/>
        </p:nvSpPr>
        <p:spPr>
          <a:xfrm>
            <a:off x="603504" y="896112"/>
            <a:ext cx="105156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defTabSz="914400">
              <a:defRPr/>
            </a:pPr>
            <a:r>
              <a:rPr lang="nl-NL" sz="3600" b="1" dirty="0" err="1">
                <a:solidFill>
                  <a:schemeClr val="bg1"/>
                </a:solidFill>
              </a:rPr>
              <a:t>Entra</a:t>
            </a:r>
            <a:r>
              <a:rPr lang="nl-NL" sz="3600" b="1" dirty="0">
                <a:solidFill>
                  <a:schemeClr val="bg1"/>
                </a:solidFill>
              </a:rPr>
              <a:t> Cloud Sync, Cloud-</a:t>
            </a:r>
            <a:r>
              <a:rPr lang="nl-NL" sz="3600" b="1" dirty="0" err="1">
                <a:solidFill>
                  <a:schemeClr val="bg1"/>
                </a:solidFill>
              </a:rPr>
              <a:t>to</a:t>
            </a:r>
            <a:r>
              <a:rPr lang="nl-NL" sz="3600" b="1" dirty="0">
                <a:solidFill>
                  <a:schemeClr val="bg1"/>
                </a:solidFill>
              </a:rPr>
              <a:t>-AD </a:t>
            </a:r>
            <a:r>
              <a:rPr lang="nl-NL" sz="3600" b="1" dirty="0" err="1">
                <a:solidFill>
                  <a:schemeClr val="bg1"/>
                </a:solidFill>
              </a:rPr>
              <a:t>Provisioning</a:t>
            </a:r>
            <a:endParaRPr lang="nl-NL" sz="3600" b="1" dirty="0">
              <a:solidFill>
                <a:schemeClr val="bg1"/>
              </a:solidFill>
            </a:endParaRPr>
          </a:p>
          <a:p>
            <a:endParaRPr lang="nl-NL" sz="3600" dirty="0"/>
          </a:p>
        </p:txBody>
      </p:sp>
    </p:spTree>
    <p:extLst>
      <p:ext uri="{BB962C8B-B14F-4D97-AF65-F5344CB8AC3E}">
        <p14:creationId xmlns:p14="http://schemas.microsoft.com/office/powerpoint/2010/main" val="509026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3D37-7FDB-7D00-792E-283A17FC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0CD1ED53-34D7-FD10-0867-4CF6EE406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62EDF9-E7A7-6F61-CED4-714BAEABC2DC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 dirty="0">
                <a:solidFill>
                  <a:srgbClr val="FF2E88"/>
                </a:solidFill>
                <a:latin typeface="Consolas"/>
              </a:rPr>
              <a:t>TOPIC </a:t>
            </a:r>
            <a:r>
              <a:rPr lang="nl-NL" sz="1250" b="1" i="0" spc="260" dirty="0">
                <a:solidFill>
                  <a:srgbClr val="FF2E88"/>
                </a:solidFill>
                <a:latin typeface="Consolas"/>
              </a:rPr>
              <a:t>2</a:t>
            </a:r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·  ROUND-TABLE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77F156E-4C87-636E-54E5-6A2E2F7C24FF}"/>
              </a:ext>
            </a:extLst>
          </p:cNvPr>
          <p:cNvSpPr/>
          <p:nvPr/>
        </p:nvSpPr>
        <p:spPr>
          <a:xfrm>
            <a:off x="479226" y="1535770"/>
            <a:ext cx="5309463" cy="2661748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C6208-3027-F330-80A5-2055678A907A}"/>
              </a:ext>
            </a:extLst>
          </p:cNvPr>
          <p:cNvSpPr txBox="1"/>
          <p:nvPr/>
        </p:nvSpPr>
        <p:spPr>
          <a:xfrm>
            <a:off x="1146738" y="1905103"/>
            <a:ext cx="3974438" cy="1477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nl-NL" sz="2400" i="1" dirty="0">
                <a:solidFill>
                  <a:schemeClr val="bg1"/>
                </a:solidFill>
              </a:rPr>
              <a:t>Does reverse </a:t>
            </a:r>
            <a:r>
              <a:rPr lang="nl-NL" sz="2400" i="1" dirty="0" err="1">
                <a:solidFill>
                  <a:schemeClr val="bg1"/>
                </a:solidFill>
              </a:rPr>
              <a:t>provisioning</a:t>
            </a:r>
            <a:r>
              <a:rPr lang="nl-NL" sz="2400" i="1" dirty="0">
                <a:solidFill>
                  <a:schemeClr val="bg1"/>
                </a:solidFill>
              </a:rPr>
              <a:t> help </a:t>
            </a:r>
            <a:r>
              <a:rPr lang="nl-NL" sz="2400" i="1" dirty="0" err="1">
                <a:solidFill>
                  <a:schemeClr val="bg1"/>
                </a:solidFill>
              </a:rPr>
              <a:t>organizations</a:t>
            </a:r>
            <a:r>
              <a:rPr lang="nl-NL" sz="2400" i="1" dirty="0">
                <a:solidFill>
                  <a:schemeClr val="bg1"/>
                </a:solidFill>
              </a:rPr>
              <a:t> </a:t>
            </a:r>
            <a:r>
              <a:rPr lang="nl-NL" sz="2400" i="1" dirty="0" err="1">
                <a:solidFill>
                  <a:schemeClr val="bg1"/>
                </a:solidFill>
              </a:rPr>
              <a:t>leave</a:t>
            </a:r>
            <a:r>
              <a:rPr lang="nl-NL" sz="2400" i="1" dirty="0">
                <a:solidFill>
                  <a:schemeClr val="bg1"/>
                </a:solidFill>
              </a:rPr>
              <a:t> AD </a:t>
            </a:r>
            <a:r>
              <a:rPr lang="nl-NL" sz="2400" i="1" dirty="0" err="1">
                <a:solidFill>
                  <a:schemeClr val="bg1"/>
                </a:solidFill>
              </a:rPr>
              <a:t>behind</a:t>
            </a:r>
            <a:r>
              <a:rPr lang="nl-NL" sz="2400" i="1" dirty="0">
                <a:solidFill>
                  <a:schemeClr val="bg1"/>
                </a:solidFill>
              </a:rPr>
              <a:t>, or does </a:t>
            </a:r>
            <a:r>
              <a:rPr lang="nl-NL" sz="2400" i="1" dirty="0" err="1">
                <a:solidFill>
                  <a:schemeClr val="bg1"/>
                </a:solidFill>
              </a:rPr>
              <a:t>it</a:t>
            </a:r>
            <a:r>
              <a:rPr lang="nl-NL" sz="2400" i="1" dirty="0">
                <a:solidFill>
                  <a:schemeClr val="bg1"/>
                </a:solidFill>
              </a:rPr>
              <a:t> make </a:t>
            </a:r>
            <a:r>
              <a:rPr lang="nl-NL" sz="2400" i="1" dirty="0" err="1">
                <a:solidFill>
                  <a:schemeClr val="bg1"/>
                </a:solidFill>
              </a:rPr>
              <a:t>keeping</a:t>
            </a:r>
            <a:r>
              <a:rPr lang="nl-NL" sz="2400" i="1" dirty="0">
                <a:solidFill>
                  <a:schemeClr val="bg1"/>
                </a:solidFill>
              </a:rPr>
              <a:t> AD </a:t>
            </a:r>
            <a:r>
              <a:rPr lang="nl-NL" sz="2400" i="1" dirty="0" err="1">
                <a:solidFill>
                  <a:schemeClr val="bg1"/>
                </a:solidFill>
              </a:rPr>
              <a:t>easier</a:t>
            </a:r>
            <a:r>
              <a:rPr lang="nl-NL" sz="2400" i="1" dirty="0">
                <a:solidFill>
                  <a:schemeClr val="bg1"/>
                </a:solidFill>
              </a:rPr>
              <a:t>?</a:t>
            </a:r>
            <a:endParaRPr sz="2400" b="0" i="1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5B1B702-E024-89A5-5F71-61938769F56F}"/>
              </a:ext>
            </a:extLst>
          </p:cNvPr>
          <p:cNvSpPr/>
          <p:nvPr/>
        </p:nvSpPr>
        <p:spPr>
          <a:xfrm>
            <a:off x="5997261" y="2771695"/>
            <a:ext cx="5985862" cy="3007285"/>
          </a:xfrm>
          <a:prstGeom prst="roundRect">
            <a:avLst>
              <a:gd name="adj" fmla="val 10000"/>
            </a:avLst>
          </a:prstGeom>
          <a:solidFill>
            <a:srgbClr val="1A1436"/>
          </a:solidFill>
          <a:ln w="12700">
            <a:solidFill>
              <a:srgbClr val="342B5E"/>
            </a:solidFill>
          </a:ln>
          <a:effectLst>
            <a:outerShdw blurRad="82296" dist="4572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ED6164-5617-C44E-0285-3C5C212CCEB6}"/>
              </a:ext>
            </a:extLst>
          </p:cNvPr>
          <p:cNvSpPr txBox="1"/>
          <p:nvPr/>
        </p:nvSpPr>
        <p:spPr>
          <a:xfrm>
            <a:off x="7075073" y="3506948"/>
            <a:ext cx="4107373" cy="18466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fontAlgn="base"/>
            <a:r>
              <a:rPr lang="nl-NL" sz="2400" i="1" dirty="0">
                <a:solidFill>
                  <a:schemeClr val="bg1"/>
                </a:solidFill>
              </a:rPr>
              <a:t>Is </a:t>
            </a:r>
            <a:r>
              <a:rPr lang="nl-NL" sz="2400" i="1" dirty="0" err="1">
                <a:solidFill>
                  <a:schemeClr val="bg1"/>
                </a:solidFill>
              </a:rPr>
              <a:t>anyone</a:t>
            </a:r>
            <a:r>
              <a:rPr lang="nl-NL" sz="2400" i="1" dirty="0">
                <a:solidFill>
                  <a:schemeClr val="bg1"/>
                </a:solidFill>
              </a:rPr>
              <a:t> </a:t>
            </a:r>
            <a:r>
              <a:rPr lang="nl-NL" sz="2400" i="1" dirty="0" err="1">
                <a:solidFill>
                  <a:schemeClr val="bg1"/>
                </a:solidFill>
              </a:rPr>
              <a:t>already</a:t>
            </a:r>
            <a:r>
              <a:rPr lang="nl-NL" sz="2400" i="1" dirty="0">
                <a:solidFill>
                  <a:schemeClr val="bg1"/>
                </a:solidFill>
              </a:rPr>
              <a:t> running Cloud Sync </a:t>
            </a:r>
            <a:r>
              <a:rPr lang="nl-NL" sz="2400" i="1" dirty="0" err="1">
                <a:solidFill>
                  <a:schemeClr val="bg1"/>
                </a:solidFill>
              </a:rPr>
              <a:t>alongside</a:t>
            </a:r>
            <a:r>
              <a:rPr lang="nl-NL" sz="2400" i="1" dirty="0">
                <a:solidFill>
                  <a:schemeClr val="bg1"/>
                </a:solidFill>
              </a:rPr>
              <a:t> </a:t>
            </a:r>
            <a:r>
              <a:rPr lang="nl-NL" sz="2400" i="1" dirty="0" err="1">
                <a:solidFill>
                  <a:schemeClr val="bg1"/>
                </a:solidFill>
              </a:rPr>
              <a:t>Entra</a:t>
            </a:r>
            <a:r>
              <a:rPr lang="nl-NL" sz="2400" i="1" dirty="0">
                <a:solidFill>
                  <a:schemeClr val="bg1"/>
                </a:solidFill>
              </a:rPr>
              <a:t> Connect Sync </a:t>
            </a:r>
            <a:r>
              <a:rPr lang="nl-NL" sz="2400" i="1" dirty="0" err="1">
                <a:solidFill>
                  <a:schemeClr val="bg1"/>
                </a:solidFill>
              </a:rPr>
              <a:t>for</a:t>
            </a:r>
            <a:r>
              <a:rPr lang="nl-NL" sz="2400" i="1" dirty="0">
                <a:solidFill>
                  <a:schemeClr val="bg1"/>
                </a:solidFill>
              </a:rPr>
              <a:t> </a:t>
            </a:r>
            <a:r>
              <a:rPr lang="nl-NL" sz="2400" i="1" dirty="0" err="1">
                <a:solidFill>
                  <a:schemeClr val="bg1"/>
                </a:solidFill>
              </a:rPr>
              <a:t>Entra</a:t>
            </a:r>
            <a:r>
              <a:rPr lang="nl-NL" sz="2400" i="1" dirty="0">
                <a:solidFill>
                  <a:schemeClr val="bg1"/>
                </a:solidFill>
              </a:rPr>
              <a:t>-</a:t>
            </a:r>
            <a:r>
              <a:rPr lang="nl-NL" sz="2400" i="1" dirty="0" err="1">
                <a:solidFill>
                  <a:schemeClr val="bg1"/>
                </a:solidFill>
              </a:rPr>
              <a:t>to</a:t>
            </a:r>
            <a:r>
              <a:rPr lang="nl-NL" sz="2400" i="1" dirty="0">
                <a:solidFill>
                  <a:schemeClr val="bg1"/>
                </a:solidFill>
              </a:rPr>
              <a:t>-AD </a:t>
            </a:r>
            <a:r>
              <a:rPr lang="nl-NL" sz="2400" i="1" dirty="0" err="1">
                <a:solidFill>
                  <a:schemeClr val="bg1"/>
                </a:solidFill>
              </a:rPr>
              <a:t>provisioning</a:t>
            </a:r>
            <a:r>
              <a:rPr lang="nl-NL" sz="2400" i="1" dirty="0">
                <a:solidFill>
                  <a:schemeClr val="bg1"/>
                </a:solidFill>
              </a:rPr>
              <a:t>?</a:t>
            </a:r>
            <a:br>
              <a:rPr lang="nl-NL" sz="2400" i="1" dirty="0">
                <a:solidFill>
                  <a:schemeClr val="bg1"/>
                </a:solidFill>
              </a:rPr>
            </a:br>
            <a:endParaRPr lang="en-US" sz="2400" i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1BAD38-79F5-4235-489E-1472737C3A06}"/>
              </a:ext>
            </a:extLst>
          </p:cNvPr>
          <p:cNvSpPr txBox="1"/>
          <p:nvPr/>
        </p:nvSpPr>
        <p:spPr>
          <a:xfrm>
            <a:off x="603504" y="5897880"/>
            <a:ext cx="10984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B6AED2"/>
                </a:solidFill>
                <a:latin typeface="Segoe UI"/>
              </a:rPr>
              <a:t>Unmute and jump in. There are no wrong answers here.</a:t>
            </a: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052156E0-540F-5DEB-0432-B72FACB34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0F5A67A-D7FB-046D-E24C-1023F164796A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dirty="0" err="1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 ·   Microsoft EMS Community  ·  </a:t>
            </a:r>
            <a:r>
              <a:rPr lang="nl-NL" sz="950" b="0" i="0" dirty="0">
                <a:solidFill>
                  <a:srgbClr val="8B83A8"/>
                </a:solidFill>
                <a:latin typeface="Segoe UI"/>
              </a:rPr>
              <a:t>Sep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827748-CC82-FD5B-3507-F48836B62A12}"/>
              </a:ext>
            </a:extLst>
          </p:cNvPr>
          <p:cNvSpPr txBox="1"/>
          <p:nvPr/>
        </p:nvSpPr>
        <p:spPr>
          <a:xfrm>
            <a:off x="603504" y="896112"/>
            <a:ext cx="105156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defTabSz="914400">
              <a:defRPr/>
            </a:pPr>
            <a:r>
              <a:rPr lang="nl-NL" sz="3600" b="1" dirty="0" err="1">
                <a:solidFill>
                  <a:schemeClr val="bg1"/>
                </a:solidFill>
              </a:rPr>
              <a:t>Entra</a:t>
            </a:r>
            <a:r>
              <a:rPr lang="nl-NL" sz="3600" b="1" dirty="0">
                <a:solidFill>
                  <a:schemeClr val="bg1"/>
                </a:solidFill>
              </a:rPr>
              <a:t> Cloud Sync, Cloud-</a:t>
            </a:r>
            <a:r>
              <a:rPr lang="nl-NL" sz="3600" b="1" dirty="0" err="1">
                <a:solidFill>
                  <a:schemeClr val="bg1"/>
                </a:solidFill>
              </a:rPr>
              <a:t>to</a:t>
            </a:r>
            <a:r>
              <a:rPr lang="nl-NL" sz="3600" b="1" dirty="0">
                <a:solidFill>
                  <a:schemeClr val="bg1"/>
                </a:solidFill>
              </a:rPr>
              <a:t>-AD </a:t>
            </a:r>
            <a:r>
              <a:rPr lang="nl-NL" sz="3600" b="1" dirty="0" err="1">
                <a:solidFill>
                  <a:schemeClr val="bg1"/>
                </a:solidFill>
              </a:rPr>
              <a:t>Provisioning</a:t>
            </a:r>
            <a:endParaRPr lang="nl-NL" sz="3600" b="1" dirty="0">
              <a:solidFill>
                <a:schemeClr val="bg1"/>
              </a:solidFill>
            </a:endParaRPr>
          </a:p>
          <a:p>
            <a:endParaRPr lang="nl-NL" sz="3600" dirty="0"/>
          </a:p>
        </p:txBody>
      </p:sp>
    </p:spTree>
    <p:extLst>
      <p:ext uri="{BB962C8B-B14F-4D97-AF65-F5344CB8AC3E}">
        <p14:creationId xmlns:p14="http://schemas.microsoft.com/office/powerpoint/2010/main" val="731545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>
                <a:solidFill>
                  <a:srgbClr val="FF2E88"/>
                </a:solidFill>
                <a:latin typeface="Consolas"/>
              </a:rPr>
              <a:t>OPEN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5F2FC"/>
                </a:solidFill>
                <a:latin typeface="Segoe UI Semibold"/>
              </a:rPr>
              <a:t>Topic from the crowd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783080"/>
            <a:ext cx="6035040" cy="1350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 dirty="0">
                <a:solidFill>
                  <a:srgbClr val="B6AED2"/>
                </a:solidFill>
                <a:latin typeface="Segoe UI"/>
              </a:rPr>
              <a:t>Your turn.
What is eating your week, what broke this month, and what do you want </a:t>
            </a:r>
            <a:r>
              <a:rPr lang="nl-NL" sz="1800" b="0" i="0" dirty="0" err="1">
                <a:solidFill>
                  <a:srgbClr val="B6AED2"/>
                </a:solidFill>
                <a:latin typeface="Segoe UI"/>
              </a:rPr>
              <a:t>to</a:t>
            </a:r>
            <a:r>
              <a:rPr lang="nl-NL" sz="1800" b="0" i="0" dirty="0">
                <a:solidFill>
                  <a:srgbClr val="B6AED2"/>
                </a:solidFill>
                <a:latin typeface="Segoe UI"/>
              </a:rPr>
              <a:t> </a:t>
            </a:r>
            <a:r>
              <a:rPr lang="nl-NL" sz="1800" b="0" i="0" dirty="0" err="1">
                <a:solidFill>
                  <a:srgbClr val="B6AED2"/>
                </a:solidFill>
                <a:latin typeface="Segoe UI"/>
              </a:rPr>
              <a:t>ask</a:t>
            </a:r>
            <a:r>
              <a:rPr lang="nl-NL" sz="1800" b="0" i="0" dirty="0">
                <a:solidFill>
                  <a:srgbClr val="B6AED2"/>
                </a:solidFill>
                <a:latin typeface="Segoe UI"/>
              </a:rPr>
              <a:t> </a:t>
            </a:r>
            <a:r>
              <a:rPr lang="nl-NL" sz="1800" b="0" i="0" dirty="0" err="1">
                <a:solidFill>
                  <a:srgbClr val="B6AED2"/>
                </a:solidFill>
                <a:latin typeface="Segoe UI"/>
              </a:rPr>
              <a:t>anyone</a:t>
            </a:r>
            <a:r>
              <a:rPr lang="nl-NL" sz="1800" b="0" i="0" dirty="0">
                <a:solidFill>
                  <a:srgbClr val="B6AED2"/>
                </a:solidFill>
                <a:latin typeface="Segoe UI"/>
              </a:rPr>
              <a:t> in </a:t>
            </a:r>
            <a:r>
              <a:rPr lang="nl-NL" sz="1800" b="0" i="0" dirty="0" err="1">
                <a:solidFill>
                  <a:srgbClr val="B6AED2"/>
                </a:solidFill>
                <a:latin typeface="Segoe UI"/>
              </a:rPr>
              <a:t>the</a:t>
            </a:r>
            <a:r>
              <a:rPr lang="nl-NL" sz="1800" b="0" i="0" dirty="0">
                <a:solidFill>
                  <a:srgbClr val="B6AED2"/>
                </a:solidFill>
                <a:latin typeface="Segoe UI"/>
              </a:rPr>
              <a:t> room</a:t>
            </a:r>
            <a:r>
              <a:rPr sz="1800" b="0" i="0" dirty="0">
                <a:solidFill>
                  <a:srgbClr val="B6AED2"/>
                </a:solidFill>
                <a:latin typeface="Segoe UI"/>
              </a:rPr>
              <a:t>?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3703320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822191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666744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5F2FC"/>
                </a:solidFill>
                <a:latin typeface="Segoe UI"/>
              </a:rPr>
              <a:t>What is your biggest EMS headache right now?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361688"/>
            <a:ext cx="457200" cy="457200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1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480559"/>
            <a:ext cx="219456" cy="219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1872" y="4325112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5F2FC"/>
                </a:solidFill>
                <a:latin typeface="Segoe UI"/>
              </a:rPr>
              <a:t>A win worth sharing with the room?</a:t>
            </a:r>
          </a:p>
        </p:txBody>
      </p:sp>
      <p:pic>
        <p:nvPicPr>
          <p:cNvPr id="15" name="Picture 14" descr="image16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783080"/>
            <a:ext cx="4297680" cy="2864421"/>
          </a:xfrm>
          <a:prstGeom prst="roundRect">
            <a:avLst>
              <a:gd name="adj" fmla="val 6000"/>
            </a:avLst>
          </a:prstGeom>
          <a:ln w="15875">
            <a:solidFill>
              <a:srgbClr val="342B5E"/>
            </a:solidFill>
          </a:ln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7315200" y="55321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8B83A8"/>
                </a:solidFill>
                <a:latin typeface="Segoe UI"/>
              </a:rPr>
              <a:t>The floor is yours. Unmute and go.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dirty="0" err="1">
                <a:solidFill>
                  <a:srgbClr val="8B83A8"/>
                </a:solidFill>
                <a:latin typeface="Segoe UI"/>
              </a:rPr>
              <a:t>CloudHour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 ·   Microsoft EMS Community  ·  </a:t>
            </a:r>
            <a:r>
              <a:rPr lang="nl-NL" sz="950" b="0" i="0" dirty="0">
                <a:solidFill>
                  <a:srgbClr val="8B83A8"/>
                </a:solidFill>
                <a:latin typeface="Segoe UI"/>
              </a:rPr>
              <a:t>Sept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4864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26464" y="603504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260">
                <a:solidFill>
                  <a:srgbClr val="F5F2FC"/>
                </a:solidFill>
                <a:latin typeface="Consolas"/>
              </a:rPr>
              <a:t>MICROSOFT EMS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2860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0" b="1" i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3749039"/>
            <a:ext cx="100584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>
                <a:solidFill>
                  <a:srgbClr val="F5F2FC"/>
                </a:solidFill>
                <a:latin typeface="Segoe UI"/>
              </a:rPr>
              <a:t>for joining </a:t>
            </a:r>
            <a:r>
              <a:rPr sz="2200" b="0" i="0" dirty="0" err="1">
                <a:solidFill>
                  <a:srgbClr val="F5F2FC"/>
                </a:solidFill>
                <a:latin typeface="Segoe UI"/>
              </a:rPr>
              <a:t>CloudHour</a:t>
            </a:r>
            <a:r>
              <a:rPr sz="2200" b="0" i="0" dirty="0">
                <a:solidFill>
                  <a:srgbClr val="F5F2FC"/>
                </a:solidFill>
                <a:latin typeface="Segoe UI"/>
              </a:rPr>
              <a:t>. See you next month</a:t>
            </a:r>
            <a:r>
              <a:rPr lang="nl-NL" sz="2200" b="0" i="0" dirty="0">
                <a:solidFill>
                  <a:srgbClr val="F5F2FC"/>
                </a:solidFill>
                <a:latin typeface="Segoe UI"/>
              </a:rPr>
              <a:t> (</a:t>
            </a:r>
            <a:r>
              <a:rPr lang="nl-NL" sz="2200" b="0" i="0" dirty="0" err="1">
                <a:solidFill>
                  <a:srgbClr val="F5F2FC"/>
                </a:solidFill>
                <a:latin typeface="Segoe UI"/>
              </a:rPr>
              <a:t>digitally</a:t>
            </a:r>
            <a:r>
              <a:rPr lang="nl-NL" sz="2200" b="0" i="0" dirty="0">
                <a:solidFill>
                  <a:srgbClr val="F5F2FC"/>
                </a:solidFill>
                <a:latin typeface="Segoe UI"/>
              </a:rPr>
              <a:t>)</a:t>
            </a:r>
            <a:r>
              <a:rPr sz="2200" b="0" i="0" dirty="0">
                <a:solidFill>
                  <a:srgbClr val="F5F2FC"/>
                </a:solidFill>
                <a:latin typeface="Segoe UI"/>
              </a:rPr>
              <a:t>, and bring a colleague.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4754880"/>
            <a:ext cx="32004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473659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100">
                <a:solidFill>
                  <a:srgbClr val="F5F2FC"/>
                </a:solidFill>
                <a:latin typeface="Consolas"/>
              </a:rPr>
              <a:t>aka.ms/M365EMSDiscord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32504" y="4754880"/>
            <a:ext cx="237744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32504" y="47365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100">
                <a:solidFill>
                  <a:srgbClr val="F5F2FC"/>
                </a:solidFill>
                <a:latin typeface="Consolas"/>
              </a:rPr>
              <a:t>msems.community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126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8B83A8"/>
                </a:solidFill>
                <a:latin typeface="Segoe UI"/>
              </a:rPr>
              <a:t>Independent and community-run. Not affiliated with, endorsed by, or sponsored by Microsoft. Product names are trademarks of the Microsoft group of companies.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3-bc88714345d2}" enabled="1" method="Standard" siteId="{070b4049-26e7-41a4-ab19-a71b3bae9c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1456</Words>
  <Application>Microsoft Macintosh PowerPoint</Application>
  <PresentationFormat>Breedbeeld</PresentationFormat>
  <Paragraphs>141</Paragraphs>
  <Slides>14</Slides>
  <Notes>10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Consolas</vt:lpstr>
      <vt:lpstr>Segoe UI</vt:lpstr>
      <vt:lpstr>Segoe UI Semibold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yellow arrow | test</cp:lastModifiedBy>
  <cp:revision>40</cp:revision>
  <dcterms:created xsi:type="dcterms:W3CDTF">2013-01-27T09:14:16Z</dcterms:created>
  <dcterms:modified xsi:type="dcterms:W3CDTF">2026-09-04T12:36:35Z</dcterms:modified>
  <cp:category/>
</cp:coreProperties>
</file>